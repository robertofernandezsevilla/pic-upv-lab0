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2"/>
    <p:sldId id="289" r:id="rId3"/>
    <p:sldId id="290" r:id="rId4"/>
    <p:sldId id="294" r:id="rId5"/>
    <p:sldId id="295" r:id="rId6"/>
    <p:sldId id="296" r:id="rId7"/>
    <p:sldId id="297" r:id="rId8"/>
    <p:sldId id="298" r:id="rId9"/>
    <p:sldId id="293" r:id="rId10"/>
    <p:sldId id="299" r:id="rId11"/>
    <p:sldId id="288" r:id="rId12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02B70BE-D945-421A-8843-7BFE17E8B716}" v="1" dt="2026-02-03T12:25:46.74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73" autoAdjust="0"/>
    <p:restoredTop sz="95033" autoAdjust="0"/>
  </p:normalViewPr>
  <p:slideViewPr>
    <p:cSldViewPr>
      <p:cViewPr varScale="1">
        <p:scale>
          <a:sx n="83" d="100"/>
          <a:sy n="83" d="100"/>
        </p:scale>
        <p:origin x="552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an Camilo Cano Vasquez" userId="8c73a2a4-758b-4e34-81ed-39462e48bd92" providerId="ADAL" clId="{E6287060-0277-4BCC-9556-78F4A9113EC4}"/>
    <pc:docChg chg="delSld modSld">
      <pc:chgData name="Christian Camilo Cano Vasquez" userId="8c73a2a4-758b-4e34-81ed-39462e48bd92" providerId="ADAL" clId="{E6287060-0277-4BCC-9556-78F4A9113EC4}" dt="2026-02-03T12:26:13.728" v="13" actId="20577"/>
      <pc:docMkLst>
        <pc:docMk/>
      </pc:docMkLst>
      <pc:sldChg chg="modSp mod">
        <pc:chgData name="Christian Camilo Cano Vasquez" userId="8c73a2a4-758b-4e34-81ed-39462e48bd92" providerId="ADAL" clId="{E6287060-0277-4BCC-9556-78F4A9113EC4}" dt="2026-02-03T12:26:13.728" v="13" actId="20577"/>
        <pc:sldMkLst>
          <pc:docMk/>
          <pc:sldMk cId="560234623" sldId="289"/>
        </pc:sldMkLst>
        <pc:spChg chg="mod">
          <ac:chgData name="Christian Camilo Cano Vasquez" userId="8c73a2a4-758b-4e34-81ed-39462e48bd92" providerId="ADAL" clId="{E6287060-0277-4BCC-9556-78F4A9113EC4}" dt="2026-02-03T12:26:13.728" v="13" actId="20577"/>
          <ac:spMkLst>
            <pc:docMk/>
            <pc:sldMk cId="560234623" sldId="289"/>
            <ac:spMk id="4" creationId="{9F7BC140-B3D8-C3CB-55AD-9064C7CDE9CA}"/>
          </ac:spMkLst>
        </pc:spChg>
      </pc:sldChg>
      <pc:sldChg chg="del">
        <pc:chgData name="Christian Camilo Cano Vasquez" userId="8c73a2a4-758b-4e34-81ed-39462e48bd92" providerId="ADAL" clId="{E6287060-0277-4BCC-9556-78F4A9113EC4}" dt="2026-02-03T12:24:53.171" v="0" actId="47"/>
        <pc:sldMkLst>
          <pc:docMk/>
          <pc:sldMk cId="3712356003" sldId="291"/>
        </pc:sldMkLst>
      </pc:sldChg>
      <pc:sldChg chg="modSp mod">
        <pc:chgData name="Christian Camilo Cano Vasquez" userId="8c73a2a4-758b-4e34-81ed-39462e48bd92" providerId="ADAL" clId="{E6287060-0277-4BCC-9556-78F4A9113EC4}" dt="2026-02-03T12:25:25.147" v="3" actId="115"/>
        <pc:sldMkLst>
          <pc:docMk/>
          <pc:sldMk cId="3660438245" sldId="293"/>
        </pc:sldMkLst>
        <pc:spChg chg="mod">
          <ac:chgData name="Christian Camilo Cano Vasquez" userId="8c73a2a4-758b-4e34-81ed-39462e48bd92" providerId="ADAL" clId="{E6287060-0277-4BCC-9556-78F4A9113EC4}" dt="2026-02-03T12:25:25.147" v="3" actId="115"/>
          <ac:spMkLst>
            <pc:docMk/>
            <pc:sldMk cId="3660438245" sldId="293"/>
            <ac:spMk id="4" creationId="{D838A93A-BFC8-0124-93CE-FDC193435A0C}"/>
          </ac:spMkLst>
        </pc:spChg>
        <pc:spChg chg="mod">
          <ac:chgData name="Christian Camilo Cano Vasquez" userId="8c73a2a4-758b-4e34-81ed-39462e48bd92" providerId="ADAL" clId="{E6287060-0277-4BCC-9556-78F4A9113EC4}" dt="2026-02-03T12:25:18.697" v="1" actId="20577"/>
          <ac:spMkLst>
            <pc:docMk/>
            <pc:sldMk cId="3660438245" sldId="293"/>
            <ac:spMk id="16" creationId="{742C31CE-19F0-B995-0997-9A2D6A879BF7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16/02/2026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16/02/2026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9AE8C-86E4-9BDD-0487-5417FD2EF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028AB0D-664B-36EF-2929-024B3420EC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859E34F-AACB-46FA-AA96-77001746F1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328E11E-19E2-C905-6C7D-EABBEC50F4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552386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FC40B-CF89-0DDD-793D-378A97108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BA6759C-278E-85CA-897A-A144543449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57EDA16-6684-E77A-6708-21B2156B38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448EE06-2333-1512-96AC-54549ACE6E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435143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42C5D-3C3E-CB3A-2AA6-7FD507D3D6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18895C7-BCA1-367D-7C72-25A997EE56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D2C023C-AF6E-A9DC-B123-CD182F2FEA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169667C-4560-8A4F-B54B-EDDBE04FCB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81808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5C244-6E58-C489-EFB8-D7B47AF10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12D9892-BA86-6BFA-506E-C344B0988D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4ADB3DF-1064-489C-552F-7A105AEC10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AD7B904-D089-CE26-EDBF-F178B5470B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475917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F0507-6EDA-299E-B0E2-15E6A5843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3528BD3-94B1-AF08-432D-1A5FBACA68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9F03A51-149B-C367-FEBE-0CEFC20773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DDF5639-38FA-73EF-FE04-68D5ABF822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720717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23B86-D15F-9CD8-C5EA-3EAAD8BAC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C73881A-26A5-ECF9-C6F2-3DEFA77AEF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7AFC79-4973-3930-959B-AEF8810CFE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45D0F3-6273-0338-FCDA-175B73D7C9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173827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C37804-7496-6C61-3B08-E1AE437AC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B8E2745-F647-BAB0-180E-574CFAAC41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A896E71-C67E-8F07-1B66-3D183C25BD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FE7FCB6-B7F0-5C93-519C-2CA4551CBD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087964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0.2. COUPLERS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0.2. COUPLERS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0.2. COUPLERS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0.2. COUPLERS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ccanvas-upv/pic-upv-lab0.git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3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4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4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0.png"/><Relationship Id="rId4" Type="http://schemas.openxmlformats.org/officeDocument/2006/relationships/image" Target="../media/image4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0.2. </a:t>
            </a:r>
            <a:r>
              <a:rPr lang="es-ES" sz="3200" b="1" dirty="0" err="1">
                <a:latin typeface="Lucida Sans"/>
                <a:cs typeface="Lucida Sans"/>
              </a:rPr>
              <a:t>Couplers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0.2. COUPLERS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</a:t>
            </a: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  <a:hlinkClick r:id="rId4"/>
              </a:rPr>
              <a:t>https://github.com/cccanvas-upv/pic-upv-lab0.git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020_COUPLERS_Student.ipynb </a:t>
            </a:r>
          </a:p>
          <a:p>
            <a:pPr algn="just"/>
            <a:endParaRPr lang="en-US" b="1" i="1" dirty="0"/>
          </a:p>
          <a:p>
            <a:pPr algn="just"/>
            <a:r>
              <a:rPr lang="en-US" b="1" i="1" dirty="0"/>
              <a:t>Cross-Sections </a:t>
            </a:r>
            <a:r>
              <a:rPr lang="en-US" i="1" dirty="0"/>
              <a:t>to be studied:</a:t>
            </a:r>
            <a:endParaRPr lang="en-US" b="1" i="1" dirty="0"/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1241591" y="3685362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1795778" y="4331380"/>
            <a:ext cx="67949" cy="610424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1229760" y="4389164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1948179" y="4155787"/>
            <a:ext cx="914400" cy="89266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2073955" y="3856694"/>
            <a:ext cx="73342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lang="es-ES"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3523559" y="4331380"/>
            <a:ext cx="9849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4421819" y="5309818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239000" y="3685362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7663179" y="4163346"/>
            <a:ext cx="3165333" cy="48374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8910954" y="3926878"/>
            <a:ext cx="73342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lang="es-ES"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7663179" y="4325314"/>
            <a:ext cx="3165333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lang="es-ES" sz="1600" b="1" spc="-10" dirty="0">
                <a:latin typeface="Calibri"/>
                <a:cs typeface="Calibri"/>
              </a:rPr>
              <a:t>MMI </a:t>
            </a:r>
            <a:r>
              <a:rPr lang="es-ES" sz="1600" b="1" spc="-10" dirty="0" err="1">
                <a:latin typeface="Calibri"/>
                <a:cs typeface="Calibri"/>
              </a:rPr>
              <a:t>Body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7284458" y="5303772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7377675" y="5580458"/>
            <a:ext cx="3954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/>
              <a:t>Multimode Interference (MMI) </a:t>
            </a:r>
            <a:r>
              <a:rPr lang="en-US" dirty="0"/>
              <a:t>coupler</a:t>
            </a:r>
            <a:r>
              <a:rPr lang="en-US" b="1" dirty="0"/>
              <a:t> </a:t>
            </a:r>
            <a:endParaRPr lang="en-US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1168826" y="5579058"/>
            <a:ext cx="27431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Directional </a:t>
            </a:r>
            <a:r>
              <a:rPr lang="en-US" dirty="0"/>
              <a:t>coupler (DC)</a:t>
            </a:r>
          </a:p>
        </p:txBody>
      </p:sp>
      <p:sp>
        <p:nvSpPr>
          <p:cNvPr id="7" name="object 73">
            <a:extLst>
              <a:ext uri="{FF2B5EF4-FFF2-40B4-BE49-F238E27FC236}">
                <a16:creationId xmlns:a16="http://schemas.microsoft.com/office/drawing/2014/main" id="{9404A65A-9F07-371B-17B4-56EE1381567B}"/>
              </a:ext>
            </a:extLst>
          </p:cNvPr>
          <p:cNvSpPr txBox="1"/>
          <p:nvPr/>
        </p:nvSpPr>
        <p:spPr>
          <a:xfrm>
            <a:off x="1948179" y="4331380"/>
            <a:ext cx="9849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9" name="object 64">
            <a:extLst>
              <a:ext uri="{FF2B5EF4-FFF2-40B4-BE49-F238E27FC236}">
                <a16:creationId xmlns:a16="http://schemas.microsoft.com/office/drawing/2014/main" id="{B06C28EB-4BF4-A40B-513B-ACC7E468CDC3}"/>
              </a:ext>
            </a:extLst>
          </p:cNvPr>
          <p:cNvSpPr/>
          <p:nvPr/>
        </p:nvSpPr>
        <p:spPr>
          <a:xfrm flipV="1">
            <a:off x="2911079" y="5067632"/>
            <a:ext cx="590401" cy="45719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63">
            <a:extLst>
              <a:ext uri="{FF2B5EF4-FFF2-40B4-BE49-F238E27FC236}">
                <a16:creationId xmlns:a16="http://schemas.microsoft.com/office/drawing/2014/main" id="{4601CBDA-CF6C-DA98-1398-C31497498862}"/>
              </a:ext>
            </a:extLst>
          </p:cNvPr>
          <p:cNvSpPr txBox="1"/>
          <p:nvPr/>
        </p:nvSpPr>
        <p:spPr>
          <a:xfrm>
            <a:off x="2939643" y="5090491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lang="es-ES" sz="1400" dirty="0">
                <a:latin typeface="Calibri"/>
                <a:cs typeface="Calibri"/>
              </a:rPr>
              <a:t>g</a:t>
            </a:r>
            <a:endParaRPr sz="1400" dirty="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</a:t>
            </a:r>
            <a:r>
              <a:rPr lang="es-ES" sz="1400" spc="-10" dirty="0">
                <a:latin typeface="Calibri"/>
                <a:cs typeface="Calibri"/>
              </a:rPr>
              <a:t>gap</a:t>
            </a:r>
            <a:r>
              <a:rPr sz="1400" dirty="0">
                <a:latin typeface="Calibri"/>
                <a:cs typeface="Calibri"/>
              </a:rPr>
              <a:t>)</a:t>
            </a:r>
          </a:p>
        </p:txBody>
      </p:sp>
      <p:sp>
        <p:nvSpPr>
          <p:cNvPr id="11" name="object 62">
            <a:extLst>
              <a:ext uri="{FF2B5EF4-FFF2-40B4-BE49-F238E27FC236}">
                <a16:creationId xmlns:a16="http://schemas.microsoft.com/office/drawing/2014/main" id="{F1DAA8E2-74AD-BD39-C248-2324458F6D54}"/>
              </a:ext>
            </a:extLst>
          </p:cNvPr>
          <p:cNvSpPr/>
          <p:nvPr/>
        </p:nvSpPr>
        <p:spPr>
          <a:xfrm>
            <a:off x="7448782" y="4331380"/>
            <a:ext cx="67949" cy="610424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63">
            <a:extLst>
              <a:ext uri="{FF2B5EF4-FFF2-40B4-BE49-F238E27FC236}">
                <a16:creationId xmlns:a16="http://schemas.microsoft.com/office/drawing/2014/main" id="{FCE9BE8C-E2F4-7CBE-236B-A2E5451F5C01}"/>
              </a:ext>
            </a:extLst>
          </p:cNvPr>
          <p:cNvSpPr txBox="1"/>
          <p:nvPr/>
        </p:nvSpPr>
        <p:spPr>
          <a:xfrm>
            <a:off x="6882764" y="4389164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5602346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Directional coupler cross-section in </a:t>
            </a:r>
            <a:r>
              <a:rPr lang="en-US" sz="2500" dirty="0" err="1"/>
              <a:t>GDSFactory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0.2. COUPLERS</a:t>
            </a:r>
            <a:endParaRPr lang="es-ES" spc="-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Marcador de texto 2">
                <a:extLst>
                  <a:ext uri="{FF2B5EF4-FFF2-40B4-BE49-F238E27FC236}">
                    <a16:creationId xmlns:a16="http://schemas.microsoft.com/office/drawing/2014/main" id="{AA9E72FF-B948-6B7A-8909-97C6BE95D6F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8012" y="1295400"/>
                <a:ext cx="11048999" cy="4958137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0">
                  <a:defRPr>
                    <a:latin typeface="+mn-lt"/>
                    <a:ea typeface="+mn-ea"/>
                    <a:cs typeface="+mn-cs"/>
                  </a:defRPr>
                </a:lvl1pPr>
                <a:lvl2pPr marL="457200">
                  <a:defRPr>
                    <a:latin typeface="+mn-lt"/>
                    <a:ea typeface="+mn-ea"/>
                    <a:cs typeface="+mn-cs"/>
                  </a:defRPr>
                </a:lvl2pPr>
                <a:lvl3pPr marL="914400">
                  <a:defRPr>
                    <a:latin typeface="+mn-lt"/>
                    <a:ea typeface="+mn-ea"/>
                    <a:cs typeface="+mn-cs"/>
                  </a:defRPr>
                </a:lvl3pPr>
                <a:lvl4pPr marL="1371600">
                  <a:defRPr>
                    <a:latin typeface="+mn-lt"/>
                    <a:ea typeface="+mn-ea"/>
                    <a:cs typeface="+mn-cs"/>
                  </a:defRPr>
                </a:lvl4pPr>
                <a:lvl5pPr marL="1828800">
                  <a:defRPr>
                    <a:latin typeface="+mn-lt"/>
                    <a:ea typeface="+mn-ea"/>
                    <a:cs typeface="+mn-cs"/>
                  </a:defRPr>
                </a:lvl5pPr>
                <a:lvl6pPr marL="2286000">
                  <a:defRPr>
                    <a:latin typeface="+mn-lt"/>
                    <a:ea typeface="+mn-ea"/>
                    <a:cs typeface="+mn-cs"/>
                  </a:defRPr>
                </a:lvl6pPr>
                <a:lvl7pPr marL="2743200">
                  <a:defRPr>
                    <a:latin typeface="+mn-lt"/>
                    <a:ea typeface="+mn-ea"/>
                    <a:cs typeface="+mn-cs"/>
                  </a:defRPr>
                </a:lvl7pPr>
                <a:lvl8pPr marL="3200400">
                  <a:defRPr>
                    <a:latin typeface="+mn-lt"/>
                    <a:ea typeface="+mn-ea"/>
                    <a:cs typeface="+mn-cs"/>
                  </a:defRPr>
                </a:lvl8pPr>
                <a:lvl9pPr marL="3657600">
                  <a:defRPr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000" b="1" dirty="0"/>
                  <a:t>INSTRUCTOR:</a:t>
                </a: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Present Python and </a:t>
                </a:r>
                <a:r>
                  <a:rPr lang="en-US" sz="2000" dirty="0" err="1"/>
                  <a:t>GDSFactory</a:t>
                </a:r>
                <a:r>
                  <a:rPr lang="en-US" sz="2000" dirty="0"/>
                  <a:t> implementation of DC cross-section</a:t>
                </a: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Describe how to obtain the beating length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0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sz="20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sz="2000" dirty="0"/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Describe the outputs.</a:t>
                </a:r>
              </a:p>
              <a:p>
                <a:pPr marL="0" indent="0" algn="just">
                  <a:buNone/>
                </a:pPr>
                <a:r>
                  <a:rPr lang="en-US" sz="2000" b="1" dirty="0"/>
                  <a:t>ALL EXAMPLE #1: </a:t>
                </a:r>
                <a:r>
                  <a:rPr lang="en-US" sz="2000" dirty="0"/>
                  <a:t>waveguide width 1.2 µm, gap between waveguides 0.6 µm, deep </a:t>
                </a:r>
                <a:r>
                  <a:rPr lang="en-US" sz="2000" dirty="0" err="1"/>
                  <a:t>wvg</a:t>
                </a:r>
                <a:r>
                  <a:rPr lang="en-US" sz="2000" dirty="0"/>
                  <a:t>, wavelength start and end same 1.55 µm </a:t>
                </a:r>
                <a:r>
                  <a:rPr lang="en-US" sz="2000" dirty="0">
                    <a:sym typeface="Wingdings" pitchFamily="2" charset="2"/>
                  </a:rPr>
                  <a:t> all ”Run”</a:t>
                </a:r>
                <a:endParaRPr lang="en-US" sz="2000" dirty="0"/>
              </a:p>
              <a:p>
                <a:pPr marL="0" indent="0" algn="just">
                  <a:buNone/>
                </a:pPr>
                <a:r>
                  <a:rPr lang="en-US" sz="2000" b="1" dirty="0"/>
                  <a:t>ALL: </a:t>
                </a:r>
                <a:r>
                  <a:rPr lang="en-US" sz="2000" dirty="0"/>
                  <a:t>Follow</a:t>
                </a:r>
                <a:r>
                  <a:rPr lang="en-US" sz="2000" b="1" dirty="0"/>
                  <a:t> </a:t>
                </a:r>
                <a:r>
                  <a:rPr lang="en-US" sz="2000" dirty="0"/>
                  <a:t>instructor, that will show how to 1) plot mode, 2) explore the results (neff …)</a:t>
                </a:r>
              </a:p>
              <a:p>
                <a:pPr algn="just"/>
                <a:endParaRPr lang="en-US" sz="2000" b="1" i="1" dirty="0"/>
              </a:p>
              <a:p>
                <a:pPr algn="just"/>
                <a:endParaRPr lang="en-US" sz="2000" kern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4" name="Marcador de texto 2">
                <a:extLst>
                  <a:ext uri="{FF2B5EF4-FFF2-40B4-BE49-F238E27FC236}">
                    <a16:creationId xmlns:a16="http://schemas.microsoft.com/office/drawing/2014/main" id="{AA9E72FF-B948-6B7A-8909-97C6BE95D6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012" y="1295400"/>
                <a:ext cx="11048999" cy="4958137"/>
              </a:xfrm>
              <a:prstGeom prst="rect">
                <a:avLst/>
              </a:prstGeom>
              <a:blipFill>
                <a:blip r:embed="rId5"/>
                <a:stretch>
                  <a:fillRect l="-607" t="-738" r="-552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uadroTexto 1">
            <a:extLst>
              <a:ext uri="{FF2B5EF4-FFF2-40B4-BE49-F238E27FC236}">
                <a16:creationId xmlns:a16="http://schemas.microsoft.com/office/drawing/2014/main" id="{D0F8CF3B-B920-DBFC-F825-0C87B51EADA7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Document all your results (neff, plot fields </a:t>
            </a:r>
            <a:r>
              <a:rPr lang="en-US" sz="1200">
                <a:latin typeface="Arial" panose="020B0604020202020204" pitchFamily="34" charset="0"/>
                <a:cs typeface="Arial" panose="020B0604020202020204" pitchFamily="34" charset="0"/>
              </a:rPr>
              <a:t>of different modes,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comparison between </a:t>
            </a:r>
            <a:r>
              <a:rPr lang="en-US" sz="1200">
                <a:latin typeface="Arial" panose="020B0604020202020204" pitchFamily="34" charset="0"/>
                <a:cs typeface="Arial" panose="020B0604020202020204" pitchFamily="34" charset="0"/>
              </a:rPr>
              <a:t>different polarizations…)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81971-005D-6871-EB8A-370649987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F8244976-BA7C-A979-6515-82ADB175571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Directional coupler cross-section in </a:t>
            </a:r>
            <a:r>
              <a:rPr lang="en-US" sz="2500" dirty="0" err="1"/>
              <a:t>GDSFactory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F2D5F978-59D6-00E1-2DC0-CF4D11714A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8A7F42FE-46E3-A163-94F9-FF3A76AD0DC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2D7C11A-F35E-D8C4-AE8A-34D4F0586D38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0.2. COUPLERS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80656308-0E6A-EA10-3CDA-1B698F565840}"/>
              </a:ext>
            </a:extLst>
          </p:cNvPr>
          <p:cNvSpPr txBox="1">
            <a:spLocks/>
          </p:cNvSpPr>
          <p:nvPr/>
        </p:nvSpPr>
        <p:spPr>
          <a:xfrm>
            <a:off x="608012" y="1295400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75767930-CAD0-87A1-2A18-74F4AAF8EB51}"/>
              </a:ext>
            </a:extLst>
          </p:cNvPr>
          <p:cNvSpPr txBox="1"/>
          <p:nvPr/>
        </p:nvSpPr>
        <p:spPr>
          <a:xfrm>
            <a:off x="609441" y="4860334"/>
            <a:ext cx="11199971" cy="1015663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puede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observar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cross-section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dos cores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respectivos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con un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refracción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alrededor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2, sin,  y un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cladding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debajo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1.5, sio2.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n 5" descr="Gráfico&#10;&#10;El contenido generado por IA puede ser incorrecto.">
            <a:extLst>
              <a:ext uri="{FF2B5EF4-FFF2-40B4-BE49-F238E27FC236}">
                <a16:creationId xmlns:a16="http://schemas.microsoft.com/office/drawing/2014/main" id="{8EE40A5E-2A4F-2EEB-9043-557B9166D3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1400" y="1147906"/>
            <a:ext cx="4416839" cy="3096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17687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3EDE77-A2ED-34F8-922B-4CCDD69ED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93AC3C12-A28D-6EF9-0CAF-396137DF83D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Directional coupler cross-section in </a:t>
            </a:r>
            <a:r>
              <a:rPr lang="en-US" sz="2500" dirty="0" err="1"/>
              <a:t>GDSFactory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C821AA1D-01C8-58CB-BAC4-43679B398D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1E7A009-8B3C-E98A-A532-6F537EDD0552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8800B70-1F18-17D2-12F0-6F8789286FE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0.2. COUPLERS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11932FC-E6FA-0311-6CC3-9B45CADF2FA9}"/>
              </a:ext>
            </a:extLst>
          </p:cNvPr>
          <p:cNvSpPr txBox="1">
            <a:spLocks/>
          </p:cNvSpPr>
          <p:nvPr/>
        </p:nvSpPr>
        <p:spPr>
          <a:xfrm>
            <a:off x="608012" y="1295400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4D49E427-CAA7-58A1-8EF8-3E6A25DAF0B8}"/>
              </a:ext>
            </a:extLst>
          </p:cNvPr>
          <p:cNvSpPr txBox="1"/>
          <p:nvPr/>
        </p:nvSpPr>
        <p:spPr>
          <a:xfrm>
            <a:off x="705153" y="3678523"/>
            <a:ext cx="11199971" cy="1015663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Podemos observer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propagarán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primeros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4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al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encima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cladding. En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primeros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son quasi TE,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dos posteriores quasi TM.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CBB57643-D767-9866-9A15-42B9E11DED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655" y="1065549"/>
            <a:ext cx="6744641" cy="628738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D33C2980-5589-138B-4AB4-783E45B00A47}"/>
              </a:ext>
            </a:extLst>
          </p:cNvPr>
          <p:cNvSpPr txBox="1"/>
          <p:nvPr/>
        </p:nvSpPr>
        <p:spPr>
          <a:xfrm>
            <a:off x="7535939" y="1130885"/>
            <a:ext cx="61283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6CB71977-0C05-B5B8-B951-BE6A90D069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799" y="1897807"/>
            <a:ext cx="6766077" cy="495079"/>
          </a:xfrm>
          <a:prstGeom prst="rect">
            <a:avLst/>
          </a:prstGeom>
        </p:spPr>
      </p:pic>
      <p:sp>
        <p:nvSpPr>
          <p:cNvPr id="15" name="CuadroTexto 14">
            <a:extLst>
              <a:ext uri="{FF2B5EF4-FFF2-40B4-BE49-F238E27FC236}">
                <a16:creationId xmlns:a16="http://schemas.microsoft.com/office/drawing/2014/main" id="{993D5A96-F057-23D9-37C3-BF8F053BC698}"/>
              </a:ext>
            </a:extLst>
          </p:cNvPr>
          <p:cNvSpPr txBox="1"/>
          <p:nvPr/>
        </p:nvSpPr>
        <p:spPr>
          <a:xfrm>
            <a:off x="7529663" y="1852887"/>
            <a:ext cx="68302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Fracción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TE</a:t>
            </a:r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BAB84A52-C82E-9E3F-371F-3732D6FA1E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654" y="2636910"/>
            <a:ext cx="6744641" cy="440957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53F15D59-D415-76F3-63C9-0FFDB86733E6}"/>
              </a:ext>
            </a:extLst>
          </p:cNvPr>
          <p:cNvSpPr txBox="1"/>
          <p:nvPr/>
        </p:nvSpPr>
        <p:spPr>
          <a:xfrm>
            <a:off x="7542232" y="2598472"/>
            <a:ext cx="68302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Fracción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TM</a:t>
            </a:r>
          </a:p>
        </p:txBody>
      </p:sp>
    </p:spTree>
    <p:extLst>
      <p:ext uri="{BB962C8B-B14F-4D97-AF65-F5344CB8AC3E}">
        <p14:creationId xmlns:p14="http://schemas.microsoft.com/office/powerpoint/2010/main" val="21167602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16FAA-DAAC-EC20-DA4F-CB77121BC0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8D6FC824-FC14-2363-878F-28B31ACA8F1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Directional coupler cross-section in </a:t>
            </a:r>
            <a:r>
              <a:rPr lang="en-US" sz="2500" dirty="0" err="1"/>
              <a:t>GDSFactory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C28AC64A-CB46-7761-D8C1-71C5359B15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52A4C5D0-25D9-B50C-9469-4166D7D640A2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DBEC21F-A7F4-08BD-2476-73A302FF6AF8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0.2. COUPLERS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06A1826C-3BF6-F2F3-758E-A384F8272E95}"/>
              </a:ext>
            </a:extLst>
          </p:cNvPr>
          <p:cNvSpPr txBox="1">
            <a:spLocks/>
          </p:cNvSpPr>
          <p:nvPr/>
        </p:nvSpPr>
        <p:spPr>
          <a:xfrm>
            <a:off x="608012" y="1295400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44C88656-708A-A5A4-350A-FC8ED1DEEF57}"/>
              </a:ext>
            </a:extLst>
          </p:cNvPr>
          <p:cNvSpPr txBox="1"/>
          <p:nvPr/>
        </p:nvSpPr>
        <p:spPr>
          <a:xfrm>
            <a:off x="709081" y="3578231"/>
            <a:ext cx="11199971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Al similar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primeros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TE,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temenos un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comportamiento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simétricon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asimétrico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</p:txBody>
      </p:sp>
      <p:pic>
        <p:nvPicPr>
          <p:cNvPr id="6" name="Imagen 5" descr="Imagen que contiene Rectángulo&#10;&#10;El contenido generado por IA puede ser incorrecto.">
            <a:extLst>
              <a:ext uri="{FF2B5EF4-FFF2-40B4-BE49-F238E27FC236}">
                <a16:creationId xmlns:a16="http://schemas.microsoft.com/office/drawing/2014/main" id="{7CFAB5FE-3260-C75E-B7C1-555AE7C638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153" y="867379"/>
            <a:ext cx="3590784" cy="2503586"/>
          </a:xfrm>
          <a:prstGeom prst="rect">
            <a:avLst/>
          </a:prstGeom>
        </p:spPr>
      </p:pic>
      <p:pic>
        <p:nvPicPr>
          <p:cNvPr id="10" name="Imagen 9" descr="Gráfico, Gráfico de burbujas&#10;&#10;El contenido generado por IA puede ser incorrecto.">
            <a:extLst>
              <a:ext uri="{FF2B5EF4-FFF2-40B4-BE49-F238E27FC236}">
                <a16:creationId xmlns:a16="http://schemas.microsoft.com/office/drawing/2014/main" id="{74FA214D-58DA-17CC-07B4-16A8FC20E9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12636" y="989330"/>
            <a:ext cx="3527284" cy="2381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97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AB16B-0136-587B-EBC0-607E37410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CAB5756F-DDC7-77AC-7BCF-CC51F69F55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Directional coupler cross-section in </a:t>
            </a:r>
            <a:r>
              <a:rPr lang="en-US" sz="2500" dirty="0" err="1"/>
              <a:t>GDSFactory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4CEED293-0C84-B284-C5EF-9F6767249B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94829901-7261-7F1E-1ADC-A915C6F67B03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1821133-E620-C6EF-0A72-8D86104E3AB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0.2. COUPLERS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C4E8C270-716A-D994-D63A-9F320E9F5FB6}"/>
              </a:ext>
            </a:extLst>
          </p:cNvPr>
          <p:cNvSpPr txBox="1">
            <a:spLocks/>
          </p:cNvSpPr>
          <p:nvPr/>
        </p:nvSpPr>
        <p:spPr>
          <a:xfrm>
            <a:off x="608012" y="1295400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1C2B0894-F144-3B60-6430-921194BEBB51}"/>
              </a:ext>
            </a:extLst>
          </p:cNvPr>
          <p:cNvSpPr txBox="1"/>
          <p:nvPr/>
        </p:nvSpPr>
        <p:spPr>
          <a:xfrm>
            <a:off x="573377" y="3400195"/>
            <a:ext cx="8494423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Al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simular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primeros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TE,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temenos un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comportamiento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simétricon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asimétrico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</p:txBody>
      </p:sp>
      <p:pic>
        <p:nvPicPr>
          <p:cNvPr id="6" name="Imagen 5" descr="Imagen que contiene Rectángulo&#10;&#10;El contenido generado por IA puede ser incorrecto.">
            <a:extLst>
              <a:ext uri="{FF2B5EF4-FFF2-40B4-BE49-F238E27FC236}">
                <a16:creationId xmlns:a16="http://schemas.microsoft.com/office/drawing/2014/main" id="{AA6BBC88-CB3F-729A-08D8-8AD1061022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153" y="867379"/>
            <a:ext cx="3590784" cy="2503586"/>
          </a:xfrm>
          <a:prstGeom prst="rect">
            <a:avLst/>
          </a:prstGeom>
        </p:spPr>
      </p:pic>
      <p:pic>
        <p:nvPicPr>
          <p:cNvPr id="10" name="Imagen 9" descr="Gráfico, Gráfico de burbujas&#10;&#10;El contenido generado por IA puede ser incorrecto.">
            <a:extLst>
              <a:ext uri="{FF2B5EF4-FFF2-40B4-BE49-F238E27FC236}">
                <a16:creationId xmlns:a16="http://schemas.microsoft.com/office/drawing/2014/main" id="{BEC77AFA-0F01-3DE2-417A-835DFD226C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12636" y="989330"/>
            <a:ext cx="3527284" cy="2381635"/>
          </a:xfrm>
          <a:prstGeom prst="rect">
            <a:avLst/>
          </a:prstGeom>
        </p:spPr>
      </p:pic>
      <p:pic>
        <p:nvPicPr>
          <p:cNvPr id="7" name="Imagen 6" descr="Imagen que contiene Interfaz de usuario gráfica&#10;&#10;El contenido generado por IA puede ser incorrecto.">
            <a:extLst>
              <a:ext uri="{FF2B5EF4-FFF2-40B4-BE49-F238E27FC236}">
                <a16:creationId xmlns:a16="http://schemas.microsoft.com/office/drawing/2014/main" id="{159735B4-E976-F88A-DD41-E5F741D6CAC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6800" y="3951412"/>
            <a:ext cx="3181047" cy="2125534"/>
          </a:xfrm>
          <a:prstGeom prst="rect">
            <a:avLst/>
          </a:prstGeom>
        </p:spPr>
      </p:pic>
      <p:pic>
        <p:nvPicPr>
          <p:cNvPr id="9" name="Imagen 8" descr="Interfaz de usuario gráfica, Gráfico&#10;&#10;El contenido generado por IA puede ser incorrecto.">
            <a:extLst>
              <a:ext uri="{FF2B5EF4-FFF2-40B4-BE49-F238E27FC236}">
                <a16:creationId xmlns:a16="http://schemas.microsoft.com/office/drawing/2014/main" id="{8C3D86E4-811D-4335-F721-8084E794510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32510" y="3901340"/>
            <a:ext cx="3348611" cy="2262156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0409357A-1DDB-FAE7-38E4-88520EED71E8}"/>
              </a:ext>
            </a:extLst>
          </p:cNvPr>
          <p:cNvSpPr txBox="1"/>
          <p:nvPr/>
        </p:nvSpPr>
        <p:spPr>
          <a:xfrm>
            <a:off x="573377" y="6163496"/>
            <a:ext cx="8494423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Al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simular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2 posteriores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TM,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temenos un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comportamiento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simétricon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asimétrico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nuevo 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21F79041-AD53-9AB4-44F3-317B58BAF26D}"/>
              </a:ext>
            </a:extLst>
          </p:cNvPr>
          <p:cNvSpPr txBox="1"/>
          <p:nvPr/>
        </p:nvSpPr>
        <p:spPr>
          <a:xfrm>
            <a:off x="9753601" y="2057400"/>
            <a:ext cx="1830388" cy="830997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El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comportamiento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antisimétrico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permite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transferir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nergía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una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otra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8543275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09775-1156-9BCB-9F91-D699D4454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8875FC1F-7773-04D3-FEB8-4D820CE092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Directional coupler cross-section in </a:t>
            </a:r>
            <a:r>
              <a:rPr lang="en-US" sz="2500" dirty="0" err="1"/>
              <a:t>GDSFactory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6F50B293-3641-53CD-42E7-0E48D70AC5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E47A1E1D-CBDA-4253-E780-96EB7C4A393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8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7AC6A16-52B0-280B-F648-ABEFB7332952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0.2. COUPLERS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4308B3E7-6964-B16F-077B-A3769E686D21}"/>
              </a:ext>
            </a:extLst>
          </p:cNvPr>
          <p:cNvSpPr txBox="1">
            <a:spLocks/>
          </p:cNvSpPr>
          <p:nvPr/>
        </p:nvSpPr>
        <p:spPr>
          <a:xfrm>
            <a:off x="608012" y="1295400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476885D-1A10-3E50-0EF1-186B5A906749}"/>
              </a:ext>
            </a:extLst>
          </p:cNvPr>
          <p:cNvSpPr txBox="1"/>
          <p:nvPr/>
        </p:nvSpPr>
        <p:spPr>
          <a:xfrm>
            <a:off x="5748587" y="2103322"/>
            <a:ext cx="1504976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Polarización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TE. 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6924B48D-1C8E-4F45-6CB4-DC221D29A0E7}"/>
              </a:ext>
            </a:extLst>
          </p:cNvPr>
          <p:cNvSpPr txBox="1"/>
          <p:nvPr/>
        </p:nvSpPr>
        <p:spPr>
          <a:xfrm>
            <a:off x="534988" y="3447750"/>
            <a:ext cx="8494423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función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polarización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cambia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dicha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distancia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importante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saber con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cual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trabajar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 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F7246027-CF93-1750-FC37-81287F6C7D02}"/>
              </a:ext>
            </a:extLst>
          </p:cNvPr>
          <p:cNvSpPr txBox="1"/>
          <p:nvPr/>
        </p:nvSpPr>
        <p:spPr>
          <a:xfrm>
            <a:off x="504970" y="1203092"/>
            <a:ext cx="11049000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distancia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traslada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toda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energía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una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otra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? Esa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distancia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es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distancia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batido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depende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polarización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</p:txBody>
      </p:sp>
      <p:pic>
        <p:nvPicPr>
          <p:cNvPr id="8" name="Imagen 7" descr="Texto&#10;&#10;El contenido generado por IA puede ser incorrecto.">
            <a:extLst>
              <a:ext uri="{FF2B5EF4-FFF2-40B4-BE49-F238E27FC236}">
                <a16:creationId xmlns:a16="http://schemas.microsoft.com/office/drawing/2014/main" id="{C941B7F7-A151-AD7D-B8E1-4B4E3A08C0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988" y="1920096"/>
            <a:ext cx="5110557" cy="1201363"/>
          </a:xfrm>
          <a:prstGeom prst="rect">
            <a:avLst/>
          </a:prstGeom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CC9F882F-AC99-5833-8051-C92B87A77768}"/>
              </a:ext>
            </a:extLst>
          </p:cNvPr>
          <p:cNvSpPr txBox="1"/>
          <p:nvPr/>
        </p:nvSpPr>
        <p:spPr>
          <a:xfrm>
            <a:off x="5753674" y="2712167"/>
            <a:ext cx="1499889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Polarización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TM. </a:t>
            </a:r>
          </a:p>
        </p:txBody>
      </p:sp>
    </p:spTree>
    <p:extLst>
      <p:ext uri="{BB962C8B-B14F-4D97-AF65-F5344CB8AC3E}">
        <p14:creationId xmlns:p14="http://schemas.microsoft.com/office/powerpoint/2010/main" val="5397335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34E70-43B1-3881-1771-20FB43584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42C31CE-19F0-B995-0997-9A2D6A879B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Multimode Interference (MMI) Coupler cross-section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688A609-F3DC-EE34-C536-683E70F32E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B6C672C6-89D4-7E67-2B94-811D081786A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9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A1F4313-D710-7A3E-7A8F-EB77DEE3C1A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0.2. COUPLERS</a:t>
            </a:r>
            <a:endParaRPr lang="es-ES" spc="-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Marcador de texto 2">
                <a:extLst>
                  <a:ext uri="{FF2B5EF4-FFF2-40B4-BE49-F238E27FC236}">
                    <a16:creationId xmlns:a16="http://schemas.microsoft.com/office/drawing/2014/main" id="{D838A93A-BFC8-0124-93CE-FDC193435A0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8012" y="1295400"/>
                <a:ext cx="11048999" cy="4958137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0">
                  <a:defRPr>
                    <a:latin typeface="+mn-lt"/>
                    <a:ea typeface="+mn-ea"/>
                    <a:cs typeface="+mn-cs"/>
                  </a:defRPr>
                </a:lvl1pPr>
                <a:lvl2pPr marL="457200">
                  <a:defRPr>
                    <a:latin typeface="+mn-lt"/>
                    <a:ea typeface="+mn-ea"/>
                    <a:cs typeface="+mn-cs"/>
                  </a:defRPr>
                </a:lvl2pPr>
                <a:lvl3pPr marL="914400">
                  <a:defRPr>
                    <a:latin typeface="+mn-lt"/>
                    <a:ea typeface="+mn-ea"/>
                    <a:cs typeface="+mn-cs"/>
                  </a:defRPr>
                </a:lvl3pPr>
                <a:lvl4pPr marL="1371600">
                  <a:defRPr>
                    <a:latin typeface="+mn-lt"/>
                    <a:ea typeface="+mn-ea"/>
                    <a:cs typeface="+mn-cs"/>
                  </a:defRPr>
                </a:lvl4pPr>
                <a:lvl5pPr marL="1828800">
                  <a:defRPr>
                    <a:latin typeface="+mn-lt"/>
                    <a:ea typeface="+mn-ea"/>
                    <a:cs typeface="+mn-cs"/>
                  </a:defRPr>
                </a:lvl5pPr>
                <a:lvl6pPr marL="2286000">
                  <a:defRPr>
                    <a:latin typeface="+mn-lt"/>
                    <a:ea typeface="+mn-ea"/>
                    <a:cs typeface="+mn-cs"/>
                  </a:defRPr>
                </a:lvl6pPr>
                <a:lvl7pPr marL="2743200">
                  <a:defRPr>
                    <a:latin typeface="+mn-lt"/>
                    <a:ea typeface="+mn-ea"/>
                    <a:cs typeface="+mn-cs"/>
                  </a:defRPr>
                </a:lvl7pPr>
                <a:lvl8pPr marL="3200400">
                  <a:defRPr>
                    <a:latin typeface="+mn-lt"/>
                    <a:ea typeface="+mn-ea"/>
                    <a:cs typeface="+mn-cs"/>
                  </a:defRPr>
                </a:lvl8pPr>
                <a:lvl9pPr marL="3657600">
                  <a:defRPr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000" b="1" dirty="0"/>
                  <a:t>INSTRUCTOR:</a:t>
                </a: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Present Python and </a:t>
                </a:r>
                <a:r>
                  <a:rPr lang="en-US" sz="2000" dirty="0" err="1"/>
                  <a:t>GDSFactory</a:t>
                </a:r>
                <a:r>
                  <a:rPr lang="en-US" sz="2000" dirty="0"/>
                  <a:t> implementation of DC cross-section</a:t>
                </a: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Describe how to obtain the beating length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0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sz="20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sz="2000" dirty="0"/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Describe the outputs.</a:t>
                </a:r>
              </a:p>
              <a:p>
                <a:pPr marL="0" indent="0" algn="just">
                  <a:buNone/>
                </a:pPr>
                <a:r>
                  <a:rPr lang="en-US" sz="2000" b="1" dirty="0"/>
                  <a:t>ALL EXAMPLE #2: </a:t>
                </a:r>
                <a:r>
                  <a:rPr lang="en-US" sz="2000" dirty="0"/>
                  <a:t>waveguide width 12 µm, gap between waveguides 0.6 µm, deep </a:t>
                </a:r>
                <a:r>
                  <a:rPr lang="en-US" sz="2000" dirty="0" err="1"/>
                  <a:t>wvg</a:t>
                </a:r>
                <a:r>
                  <a:rPr lang="en-US" sz="2000" dirty="0"/>
                  <a:t>, wavelength start and end same 1.55 µm </a:t>
                </a:r>
                <a:r>
                  <a:rPr lang="en-US" sz="2000" dirty="0">
                    <a:sym typeface="Wingdings" pitchFamily="2" charset="2"/>
                  </a:rPr>
                  <a:t> all ”Run”</a:t>
                </a:r>
                <a:endParaRPr lang="en-US" sz="2000" dirty="0"/>
              </a:p>
              <a:p>
                <a:pPr marL="0" indent="0" algn="just">
                  <a:buNone/>
                </a:pPr>
                <a:r>
                  <a:rPr lang="en-US" sz="2000" b="1" dirty="0"/>
                  <a:t>ALL: </a:t>
                </a:r>
                <a:r>
                  <a:rPr lang="en-US" sz="2000" dirty="0"/>
                  <a:t>Follow</a:t>
                </a:r>
                <a:r>
                  <a:rPr lang="en-US" sz="2000" b="1" dirty="0"/>
                  <a:t> </a:t>
                </a:r>
                <a:r>
                  <a:rPr lang="en-US" sz="2000" dirty="0"/>
                  <a:t>instructor, that will show how to 1) plot mode, 2) explore the results (neff …)</a:t>
                </a:r>
              </a:p>
              <a:p>
                <a:pPr algn="just"/>
                <a:endParaRPr lang="en-US" sz="2000" b="1" i="1" u="sng" dirty="0"/>
              </a:p>
              <a:p>
                <a:pPr algn="just"/>
                <a:endParaRPr lang="en-US" sz="2000" kern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4" name="Marcador de texto 2">
                <a:extLst>
                  <a:ext uri="{FF2B5EF4-FFF2-40B4-BE49-F238E27FC236}">
                    <a16:creationId xmlns:a16="http://schemas.microsoft.com/office/drawing/2014/main" id="{D838A93A-BFC8-0124-93CE-FDC193435A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012" y="1295400"/>
                <a:ext cx="11048999" cy="4958137"/>
              </a:xfrm>
              <a:prstGeom prst="rect">
                <a:avLst/>
              </a:prstGeom>
              <a:blipFill>
                <a:blip r:embed="rId5"/>
                <a:stretch>
                  <a:fillRect l="-607" t="-738" r="-552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uadroTexto 1">
            <a:extLst>
              <a:ext uri="{FF2B5EF4-FFF2-40B4-BE49-F238E27FC236}">
                <a16:creationId xmlns:a16="http://schemas.microsoft.com/office/drawing/2014/main" id="{FDE3A197-9508-F9F1-1FEB-FF883D78C151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Document all your results (neff, plot fields </a:t>
            </a:r>
            <a:r>
              <a:rPr lang="en-US" sz="1200">
                <a:latin typeface="Arial" panose="020B0604020202020204" pitchFamily="34" charset="0"/>
                <a:cs typeface="Arial" panose="020B0604020202020204" pitchFamily="34" charset="0"/>
              </a:rPr>
              <a:t>of different modes,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comparison between </a:t>
            </a:r>
            <a:r>
              <a:rPr lang="en-US" sz="1200">
                <a:latin typeface="Arial" panose="020B0604020202020204" pitchFamily="34" charset="0"/>
                <a:cs typeface="Arial" panose="020B0604020202020204" pitchFamily="34" charset="0"/>
              </a:rPr>
              <a:t>different polarizations…)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0438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5CE10-D664-6953-B509-B579BD806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D5922014-72B8-C10C-C2C4-057861F5497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Multimode Interference (MMI) Coupler cross-section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8BB32A78-55E1-251E-EA8E-3470D7F870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166890E-63B1-941E-E413-4581969BFC5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10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2D309BD-0315-4759-6D1C-7C0F8C441716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0.2. COUPLERS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2FA91C40-EE7F-2B4B-07FC-CE9665D238B0}"/>
              </a:ext>
            </a:extLst>
          </p:cNvPr>
          <p:cNvSpPr txBox="1">
            <a:spLocks/>
          </p:cNvSpPr>
          <p:nvPr/>
        </p:nvSpPr>
        <p:spPr>
          <a:xfrm>
            <a:off x="608012" y="1295400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endParaRPr lang="en-US" sz="2000" b="1" i="1" u="sng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1BFB1A4-0E68-B2C4-3C3F-4D100A857FD0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Document all your results (neff, plot fields </a:t>
            </a:r>
            <a:r>
              <a:rPr lang="en-US" sz="1200">
                <a:latin typeface="Arial" panose="020B0604020202020204" pitchFamily="34" charset="0"/>
                <a:cs typeface="Arial" panose="020B0604020202020204" pitchFamily="34" charset="0"/>
              </a:rPr>
              <a:t>of different modes,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comparison between </a:t>
            </a:r>
            <a:r>
              <a:rPr lang="en-US" sz="1200">
                <a:latin typeface="Arial" panose="020B0604020202020204" pitchFamily="34" charset="0"/>
                <a:cs typeface="Arial" panose="020B0604020202020204" pitchFamily="34" charset="0"/>
              </a:rPr>
              <a:t>different polarizations…)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52073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11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820</TotalTime>
  <Words>636</Words>
  <Application>Microsoft Office PowerPoint</Application>
  <PresentationFormat>Panorámica</PresentationFormat>
  <Paragraphs>106</Paragraphs>
  <Slides>11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9" baseType="lpstr">
      <vt:lpstr>Aptos</vt:lpstr>
      <vt:lpstr>Arial</vt:lpstr>
      <vt:lpstr>Calibri</vt:lpstr>
      <vt:lpstr>Cambria Math</vt:lpstr>
      <vt:lpstr>Lucida Sans</vt:lpstr>
      <vt:lpstr>Times New Roman</vt:lpstr>
      <vt:lpstr>Wingdings</vt:lpstr>
      <vt:lpstr>Office Theme</vt:lpstr>
      <vt:lpstr>Presentación de PowerPoint</vt:lpstr>
      <vt:lpstr>Instructions General</vt:lpstr>
      <vt:lpstr>Learning outcome #1 – Directional coupler cross-section in GDSFactory </vt:lpstr>
      <vt:lpstr>Learning outcome #1 – Directional coupler cross-section in GDSFactory </vt:lpstr>
      <vt:lpstr>Learning outcome #1 – Directional coupler cross-section in GDSFactory </vt:lpstr>
      <vt:lpstr>Learning outcome #1 – Directional coupler cross-section in GDSFactory </vt:lpstr>
      <vt:lpstr>Learning outcome #1 – Directional coupler cross-section in GDSFactory </vt:lpstr>
      <vt:lpstr>Learning outcome #1 – Directional coupler cross-section in GDSFactory </vt:lpstr>
      <vt:lpstr>Learning outcome #2 – Multimode Interference (MMI) Coupler cross-section</vt:lpstr>
      <vt:lpstr>Learning outcome #2 – Multimode Interference (MMI) Coupler cross-section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Roberto José Fernández Sevilla</cp:lastModifiedBy>
  <cp:revision>9</cp:revision>
  <dcterms:created xsi:type="dcterms:W3CDTF">2025-01-27T02:46:57Z</dcterms:created>
  <dcterms:modified xsi:type="dcterms:W3CDTF">2026-02-16T09:59:16Z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