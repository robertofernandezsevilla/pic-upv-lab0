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9" r:id="rId3"/>
    <p:sldId id="290" r:id="rId4"/>
    <p:sldId id="294" r:id="rId5"/>
    <p:sldId id="295" r:id="rId6"/>
    <p:sldId id="296" r:id="rId7"/>
    <p:sldId id="297" r:id="rId8"/>
    <p:sldId id="298" r:id="rId9"/>
    <p:sldId id="293" r:id="rId10"/>
    <p:sldId id="299" r:id="rId11"/>
    <p:sldId id="300" r:id="rId12"/>
    <p:sldId id="302" r:id="rId13"/>
    <p:sldId id="303" r:id="rId14"/>
    <p:sldId id="288" r:id="rId15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5033" autoAdjust="0"/>
  </p:normalViewPr>
  <p:slideViewPr>
    <p:cSldViewPr>
      <p:cViewPr varScale="1">
        <p:scale>
          <a:sx n="83" d="100"/>
          <a:sy n="83" d="100"/>
        </p:scale>
        <p:origin x="55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AE8C-86E4-9BDD-0487-5417FD2E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28AB0D-664B-36EF-2929-024B3420E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59E34F-AACB-46FA-AA96-77001746F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28E11E-19E2-C905-6C7D-EABBEC50F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5238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C40B-CF89-0DDD-793D-378A9710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A6759C-278E-85CA-897A-A14454344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7EDA16-6684-E77A-6708-21B2156B3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48EE06-2333-1512-96AC-54549ACE6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51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2C5D-3C3E-CB3A-2AA6-7FD507D3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8895C7-BCA1-367D-7C72-25A997EE5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2C023C-AF6E-A9DC-B123-CD182F2FE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69667C-4560-8A4F-B54B-EDDBE04FC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180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C244-6E58-C489-EFB8-D7B47AF1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2D9892-BA86-6BFA-506E-C344B0988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ADB3DF-1064-489C-552F-7A105AEC1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D7B904-D089-CE26-EDBF-F178B5470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591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F0507-6EDA-299E-B0E2-15E6A584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528BD3-94B1-AF08-432D-1A5FBACA6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F03A51-149B-C367-FEBE-0CEFC2077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DF5639-38FA-73EF-FE04-68D5ABF82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07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7804-7496-6C61-3B08-E1AE437A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8E2745-F647-BAB0-180E-574CFAAC4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896E71-C67E-8F07-1B66-3D183C25B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7FCB6-B7F0-5C93-519C-2CA4551CB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796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2B88-AFBE-F533-6FA5-06F0AFF5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DF84A49-E0B8-ADB4-F35F-1236210B0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CAC1C8-4561-6350-9B3D-50FE02FEF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E3D82E-CC69-30B8-C6F4-169282227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144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76B16-B1E0-9FE2-7BFD-FF1F3BBC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0152F8-67AC-887A-BB89-47340F619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64BD0A-9A18-9C45-98D6-4A59DF83B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44E3F2-2233-78E6-41D4-39E348396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66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B70C-15DA-54D8-A19D-7FBD95ED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5FB432-43F1-9B5B-9D73-EED4084F0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2CC78C-7722-FC5A-5256-FFF6F2B96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FB5F5-9B9E-9AAB-F942-2BB481D9F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74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1971-005D-6871-EB8A-37064998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8244976-BA7C-A979-6515-82ADB1755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2D5F978-59D6-00E1-2DC0-CF4D11714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A7F42FE-46E3-A163-94F9-FF3A76AD0D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D7C11A-F35E-D8C4-AE8A-34D4F0586D3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80656308-0E6A-EA10-3CDA-1B698F565840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767930-CAD0-87A1-2A18-74F4AAF8EB51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cross-section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cores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2, sin,  y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1.5, sio2.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8EE40A5E-2A4F-2EEB-9043-557B9166D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147906"/>
            <a:ext cx="4416839" cy="30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6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DE77-A2ED-34F8-922B-4CCDD69E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3AC3C12-A28D-6EF9-0CAF-396137DF8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821AA1D-01C8-58CB-BAC4-43679B398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1E7A009-8B3C-E98A-A532-6F537EDD05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800B70-1F18-17D2-12F0-6F8789286FE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11932FC-E6FA-0311-6CC3-9B45CADF2FA9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D49E427-CAA7-58A1-8EF8-3E6A25DAF0B8}"/>
              </a:ext>
            </a:extLst>
          </p:cNvPr>
          <p:cNvSpPr txBox="1"/>
          <p:nvPr/>
        </p:nvSpPr>
        <p:spPr>
          <a:xfrm>
            <a:off x="705153" y="3678523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Podemos observer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quasi TE,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posteriores quasi TM.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BB57643-D767-9866-9A15-42B9E11DE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55" y="1065549"/>
            <a:ext cx="6744641" cy="62873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33C2980-5589-138B-4AB4-783E45B00A47}"/>
              </a:ext>
            </a:extLst>
          </p:cNvPr>
          <p:cNvSpPr txBox="1"/>
          <p:nvPr/>
        </p:nvSpPr>
        <p:spPr>
          <a:xfrm>
            <a:off x="7535939" y="1130885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CB71977-0C05-B5B8-B951-BE6A90D06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99" y="1897807"/>
            <a:ext cx="6766077" cy="49507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93D5A96-F057-23D9-37C3-BF8F053BC698}"/>
              </a:ext>
            </a:extLst>
          </p:cNvPr>
          <p:cNvSpPr txBox="1"/>
          <p:nvPr/>
        </p:nvSpPr>
        <p:spPr>
          <a:xfrm>
            <a:off x="7529663" y="1852887"/>
            <a:ext cx="6830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Fracción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AB84A52-C82E-9E3F-371F-3732D6FA1E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654" y="2636910"/>
            <a:ext cx="6744641" cy="44095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3F15D59-D415-76F3-63C9-0FFDB86733E6}"/>
              </a:ext>
            </a:extLst>
          </p:cNvPr>
          <p:cNvSpPr txBox="1"/>
          <p:nvPr/>
        </p:nvSpPr>
        <p:spPr>
          <a:xfrm>
            <a:off x="7542232" y="2598472"/>
            <a:ext cx="6830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Fracción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211676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6FAA-DAAC-EC20-DA4F-CB77121B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D6FC824-FC14-2363-878F-28B31ACA8F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28AC64A-CB46-7761-D8C1-71C5359B1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2A4C5D0-25D9-B50C-9469-4166D7D640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BEC21F-A7F4-08BD-2476-73A302FF6A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06A1826C-3BF6-F2F3-758E-A384F8272E95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C88656-708A-A5A4-350A-FC8ED1DEEF57}"/>
              </a:ext>
            </a:extLst>
          </p:cNvPr>
          <p:cNvSpPr txBox="1"/>
          <p:nvPr/>
        </p:nvSpPr>
        <p:spPr>
          <a:xfrm>
            <a:off x="709081" y="3578231"/>
            <a:ext cx="1119997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 similar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simétricon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asimétrico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6" name="Imagen 5" descr="Imagen que contiene Rectángulo&#10;&#10;El contenido generado por IA puede ser incorrecto.">
            <a:extLst>
              <a:ext uri="{FF2B5EF4-FFF2-40B4-BE49-F238E27FC236}">
                <a16:creationId xmlns:a16="http://schemas.microsoft.com/office/drawing/2014/main" id="{7CFAB5FE-3260-C75E-B7C1-555AE7C63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53" y="867379"/>
            <a:ext cx="3590784" cy="2503586"/>
          </a:xfrm>
          <a:prstGeom prst="rect">
            <a:avLst/>
          </a:prstGeom>
        </p:spPr>
      </p:pic>
      <p:pic>
        <p:nvPicPr>
          <p:cNvPr id="10" name="Imagen 9" descr="Gráfico, Gráfico de burbujas&#10;&#10;El contenido generado por IA puede ser incorrecto.">
            <a:extLst>
              <a:ext uri="{FF2B5EF4-FFF2-40B4-BE49-F238E27FC236}">
                <a16:creationId xmlns:a16="http://schemas.microsoft.com/office/drawing/2014/main" id="{74FA214D-58DA-17CC-07B4-16A8FC20E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636" y="989330"/>
            <a:ext cx="3527284" cy="2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B16B-0136-587B-EBC0-607E3741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AB5756F-DDC7-77AC-7BCF-CC51F69F5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CEED293-0C84-B284-C5EF-9F6767249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4829901-7261-7F1E-1ADC-A915C6F67B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821133-E620-C6EF-0A72-8D86104E3A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C4E8C270-716A-D994-D63A-9F320E9F5FB6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2B0894-F144-3B60-6430-921194BEBB51}"/>
              </a:ext>
            </a:extLst>
          </p:cNvPr>
          <p:cNvSpPr txBox="1"/>
          <p:nvPr/>
        </p:nvSpPr>
        <p:spPr>
          <a:xfrm>
            <a:off x="573377" y="3400195"/>
            <a:ext cx="8494423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simétricon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asimétrico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6" name="Imagen 5" descr="Imagen que contiene Rectángulo&#10;&#10;El contenido generado por IA puede ser incorrecto.">
            <a:extLst>
              <a:ext uri="{FF2B5EF4-FFF2-40B4-BE49-F238E27FC236}">
                <a16:creationId xmlns:a16="http://schemas.microsoft.com/office/drawing/2014/main" id="{AA6BBC88-CB3F-729A-08D8-8AD106102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53" y="867379"/>
            <a:ext cx="3590784" cy="2503586"/>
          </a:xfrm>
          <a:prstGeom prst="rect">
            <a:avLst/>
          </a:prstGeom>
        </p:spPr>
      </p:pic>
      <p:pic>
        <p:nvPicPr>
          <p:cNvPr id="10" name="Imagen 9" descr="Gráfico, Gráfico de burbujas&#10;&#10;El contenido generado por IA puede ser incorrecto.">
            <a:extLst>
              <a:ext uri="{FF2B5EF4-FFF2-40B4-BE49-F238E27FC236}">
                <a16:creationId xmlns:a16="http://schemas.microsoft.com/office/drawing/2014/main" id="{BEC77AFA-0F01-3DE2-417A-835DFD226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636" y="989330"/>
            <a:ext cx="3527284" cy="2381635"/>
          </a:xfrm>
          <a:prstGeom prst="rect">
            <a:avLst/>
          </a:prstGeom>
        </p:spPr>
      </p:pic>
      <p:pic>
        <p:nvPicPr>
          <p:cNvPr id="7" name="Imagen 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59735B4-E976-F88A-DD41-E5F741D6CA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951412"/>
            <a:ext cx="3181047" cy="2125534"/>
          </a:xfrm>
          <a:prstGeom prst="rect">
            <a:avLst/>
          </a:prstGeom>
        </p:spPr>
      </p:pic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8C3D86E4-811D-4335-F721-8084E79451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2510" y="3901340"/>
            <a:ext cx="3348611" cy="226215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409357A-1DDB-FAE7-38E4-88520EED71E8}"/>
              </a:ext>
            </a:extLst>
          </p:cNvPr>
          <p:cNvSpPr txBox="1"/>
          <p:nvPr/>
        </p:nvSpPr>
        <p:spPr>
          <a:xfrm>
            <a:off x="573377" y="6163496"/>
            <a:ext cx="8494423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 posteriores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simétricon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asimétrico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nuevo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1F79041-AD53-9AB4-44F3-317B58BAF26D}"/>
              </a:ext>
            </a:extLst>
          </p:cNvPr>
          <p:cNvSpPr txBox="1"/>
          <p:nvPr/>
        </p:nvSpPr>
        <p:spPr>
          <a:xfrm>
            <a:off x="9753601" y="2057400"/>
            <a:ext cx="183038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antisimétrico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transferir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nergía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432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9775-1156-9BCB-9F91-D699D445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875FC1F-7773-04D3-FEB8-4D820CE09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F50B293-3641-53CD-42E7-0E48D70AC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47A1E1D-CBDA-4253-E780-96EB7C4A39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AC6A16-52B0-280B-F648-ABEFB73329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308B3E7-6964-B16F-077B-A3769E686D21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76885D-1A10-3E50-0EF1-186B5A906749}"/>
              </a:ext>
            </a:extLst>
          </p:cNvPr>
          <p:cNvSpPr txBox="1"/>
          <p:nvPr/>
        </p:nvSpPr>
        <p:spPr>
          <a:xfrm>
            <a:off x="5748587" y="2103322"/>
            <a:ext cx="150497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24B48D-1C8E-4F45-6CB4-DC221D29A0E7}"/>
              </a:ext>
            </a:extLst>
          </p:cNvPr>
          <p:cNvSpPr txBox="1"/>
          <p:nvPr/>
        </p:nvSpPr>
        <p:spPr>
          <a:xfrm>
            <a:off x="534988" y="3447750"/>
            <a:ext cx="8494423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cambia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saber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trabajar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246027-CF93-1750-FC37-81287F6C7D02}"/>
              </a:ext>
            </a:extLst>
          </p:cNvPr>
          <p:cNvSpPr txBox="1"/>
          <p:nvPr/>
        </p:nvSpPr>
        <p:spPr>
          <a:xfrm>
            <a:off x="504970" y="1203092"/>
            <a:ext cx="11049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traslada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? Esa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batido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C941B7F7-A151-AD7D-B8E1-4B4E3A08C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88" y="1920096"/>
            <a:ext cx="5110557" cy="120136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C9F882F-AC99-5833-8051-C92B87A77768}"/>
              </a:ext>
            </a:extLst>
          </p:cNvPr>
          <p:cNvSpPr txBox="1"/>
          <p:nvPr/>
        </p:nvSpPr>
        <p:spPr>
          <a:xfrm>
            <a:off x="5753674" y="2712167"/>
            <a:ext cx="149988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TM. </a:t>
            </a:r>
          </a:p>
        </p:txBody>
      </p:sp>
    </p:spTree>
    <p:extLst>
      <p:ext uri="{BB962C8B-B14F-4D97-AF65-F5344CB8AC3E}">
        <p14:creationId xmlns:p14="http://schemas.microsoft.com/office/powerpoint/2010/main" val="53973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CE10-D664-6953-B509-B579BD80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5922014-72B8-C10C-C2C4-057861F54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BB32A78-55E1-251E-EA8E-3470D7F87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66890E-63B1-941E-E413-4581969BFC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D309BD-0315-4759-6D1C-7C0F8C44171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2FA91C40-EE7F-2B4B-07FC-CE9665D238B0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BFB1A4-0E68-B2C4-3C3F-4D100A857FD0}"/>
              </a:ext>
            </a:extLst>
          </p:cNvPr>
          <p:cNvSpPr txBox="1"/>
          <p:nvPr/>
        </p:nvSpPr>
        <p:spPr>
          <a:xfrm>
            <a:off x="608012" y="4903378"/>
            <a:ext cx="11199971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Los MMI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caracterizan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replica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autoimágenes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medio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Al ser de gran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tamaño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gran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imágenes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0,1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ayuda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comprender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vista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diapositiva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aquellos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1.44.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FA5EB026-0DB9-10CC-CAAB-2133E01A0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12" y="1009948"/>
            <a:ext cx="3119567" cy="2266652"/>
          </a:xfrm>
          <a:prstGeom prst="rect">
            <a:avLst/>
          </a:prstGeom>
        </p:spPr>
      </p:pic>
      <p:pic>
        <p:nvPicPr>
          <p:cNvPr id="8" name="Imagen 7" descr="Interfaz de usuario gráfica, Word&#10;&#10;El contenido generado por IA puede ser incorrecto.">
            <a:extLst>
              <a:ext uri="{FF2B5EF4-FFF2-40B4-BE49-F238E27FC236}">
                <a16:creationId xmlns:a16="http://schemas.microsoft.com/office/drawing/2014/main" id="{035CD8B0-26E9-5EDB-2EDF-AA9F3A3B9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073407"/>
            <a:ext cx="3121505" cy="2203193"/>
          </a:xfrm>
          <a:prstGeom prst="rect">
            <a:avLst/>
          </a:prstGeom>
        </p:spPr>
      </p:pic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F3FF10B-6C4F-633A-81DD-FB844A482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927" y="1024007"/>
            <a:ext cx="3213038" cy="2218526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1465DDA4-B361-95CF-47C3-A7DF719052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" y="3328120"/>
            <a:ext cx="820217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0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C3DF-5152-5C28-897E-3ED37CEB2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114E14B-F648-6920-5950-B939AD441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9A6388A-B489-BA84-890C-026E2B988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59A2540-058D-F57C-A2C2-B9A17E34F8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902674-FF7E-F050-6B20-D56854906AA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1B9BE38-81B3-8F74-EBA3-2D16488A0F3D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A84280D-068F-A002-ADF9-6B048D49759C}"/>
              </a:ext>
            </a:extLst>
          </p:cNvPr>
          <p:cNvSpPr txBox="1"/>
          <p:nvPr/>
        </p:nvSpPr>
        <p:spPr>
          <a:xfrm>
            <a:off x="608012" y="4903378"/>
            <a:ext cx="1119997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Los MMI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caracterizan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replica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autoimágenes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medio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Al ser de gran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tamaño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gran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imágenes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0,1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ayuda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comprender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vista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diapositiva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aquellos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1.44.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57882ACE-8FAC-5F67-8EA3-8A4E74CA0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12" y="1009948"/>
            <a:ext cx="3119567" cy="2266652"/>
          </a:xfrm>
          <a:prstGeom prst="rect">
            <a:avLst/>
          </a:prstGeom>
        </p:spPr>
      </p:pic>
      <p:pic>
        <p:nvPicPr>
          <p:cNvPr id="8" name="Imagen 7" descr="Interfaz de usuario gráfica, Word&#10;&#10;El contenido generado por IA puede ser incorrecto.">
            <a:extLst>
              <a:ext uri="{FF2B5EF4-FFF2-40B4-BE49-F238E27FC236}">
                <a16:creationId xmlns:a16="http://schemas.microsoft.com/office/drawing/2014/main" id="{E063E233-7685-49A7-56E8-9296DAA82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073407"/>
            <a:ext cx="3121505" cy="2203193"/>
          </a:xfrm>
          <a:prstGeom prst="rect">
            <a:avLst/>
          </a:prstGeom>
        </p:spPr>
      </p:pic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C844408-22BF-A0B3-5CC7-1AE012D3C6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927" y="1024007"/>
            <a:ext cx="3213038" cy="2218526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89DA6B2C-0C0A-7D6B-2553-BC460674EA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" y="3328120"/>
            <a:ext cx="820217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4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F110-022E-068B-CC43-22072768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8D2ECC0-C9FD-7E56-6516-B614CB202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0FAF690-4D4D-1D71-20D0-E1B4C4AC1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97C2AD5-3150-0B0D-AA15-D5211B49F3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888B22-3101-015F-9E7E-4B4B029D67C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DFC99FA-7158-789D-3A10-1BF8F8C58668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E18A2-248D-0741-00E1-25B713E809F2}"/>
              </a:ext>
            </a:extLst>
          </p:cNvPr>
          <p:cNvSpPr txBox="1"/>
          <p:nvPr/>
        </p:nvSpPr>
        <p:spPr>
          <a:xfrm>
            <a:off x="608012" y="4903378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35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superior a 1.44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señalado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Por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28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C586736E-65CD-9FAD-18C0-AD8B6899C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3026" y="890475"/>
            <a:ext cx="5996569" cy="36938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A13555D-B206-9A4A-2432-2E0AF05E3C82}"/>
              </a:ext>
            </a:extLst>
          </p:cNvPr>
          <p:cNvSpPr/>
          <p:nvPr/>
        </p:nvSpPr>
        <p:spPr>
          <a:xfrm>
            <a:off x="5638800" y="3276600"/>
            <a:ext cx="2133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216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AF43-ABE2-BC78-562B-CD016382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7C14D95-5B6A-9E67-E1BD-B6C350CBB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2AB7265-B7F7-D3D6-72A1-8A2E5DAE6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2DC5A9A-9286-2BD5-0120-2455328E04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FC0E2E-AF5D-C62F-3223-6156977A4BE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E7D6679C-1F49-FA83-5F6C-B17D1C8DB944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1E3F15-2560-F57E-4034-4AAAD3D0AFC7}"/>
              </a:ext>
            </a:extLst>
          </p:cNvPr>
          <p:cNvSpPr txBox="1"/>
          <p:nvPr/>
        </p:nvSpPr>
        <p:spPr>
          <a:xfrm>
            <a:off x="608012" y="271908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autoimagen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producirán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replicas. 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4D2520-4F4C-BF8D-577A-AFB7A99B9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611674"/>
            <a:ext cx="246731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3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912</Words>
  <Application>Microsoft Office PowerPoint</Application>
  <PresentationFormat>Panorámica</PresentationFormat>
  <Paragraphs>133</Paragraphs>
  <Slides>14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#1 – Directional coupler cross-section in GDSFactory </vt:lpstr>
      <vt:lpstr>Learning outcome #2 – Multimode Interference (MMI) Coupler cross-section</vt:lpstr>
      <vt:lpstr>Learning outcome #2 – Multimode Interference (MMI) Coupler cross-section</vt:lpstr>
      <vt:lpstr>Learning outcome #2 – Multimode Interference (MMI) Coupler cross-section</vt:lpstr>
      <vt:lpstr>Learning outcome #2 – Multimode Interference (MMI) Coupler cross-section</vt:lpstr>
      <vt:lpstr>Learning outcome #2 – Multimode Interference (MMI) Coupler cross-section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Roberto José Fernández Sevilla</cp:lastModifiedBy>
  <cp:revision>10</cp:revision>
  <dcterms:created xsi:type="dcterms:W3CDTF">2025-01-27T02:46:57Z</dcterms:created>
  <dcterms:modified xsi:type="dcterms:W3CDTF">2026-02-16T10:20:03Z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