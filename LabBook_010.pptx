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89" r:id="rId3"/>
    <p:sldId id="290" r:id="rId4"/>
    <p:sldId id="292" r:id="rId5"/>
    <p:sldId id="293" r:id="rId6"/>
    <p:sldId id="294" r:id="rId7"/>
    <p:sldId id="295" r:id="rId8"/>
    <p:sldId id="296" r:id="rId9"/>
    <p:sldId id="297" r:id="rId10"/>
    <p:sldId id="291" r:id="rId11"/>
    <p:sldId id="288" r:id="rId1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3102A6-F98F-48C7-9AF4-68940EB5B3D9}" v="4" dt="2026-02-03T12:19:17.94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324" autoAdjust="0"/>
    <p:restoredTop sz="95033" autoAdjust="0"/>
  </p:normalViewPr>
  <p:slideViewPr>
    <p:cSldViewPr>
      <p:cViewPr varScale="1">
        <p:scale>
          <a:sx n="83" d="100"/>
          <a:sy n="83" d="100"/>
        </p:scale>
        <p:origin x="442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delSld modSld">
      <pc:chgData name="Christian Camilo Cano Vasquez" userId="8c73a2a4-758b-4e34-81ed-39462e48bd92" providerId="ADAL" clId="{E6287060-0277-4BCC-9556-78F4A9113EC4}" dt="2026-02-03T12:19:54.710" v="164" actId="113"/>
      <pc:docMkLst>
        <pc:docMk/>
      </pc:docMkLst>
      <pc:sldChg chg="modSp mod">
        <pc:chgData name="Christian Camilo Cano Vasquez" userId="8c73a2a4-758b-4e34-81ed-39462e48bd92" providerId="ADAL" clId="{E6287060-0277-4BCC-9556-78F4A9113EC4}" dt="2026-02-03T12:19:54.710" v="164" actId="113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E6287060-0277-4BCC-9556-78F4A9113EC4}" dt="2026-02-03T12:19:54.710" v="164" actId="113"/>
          <ac:spMkLst>
            <pc:docMk/>
            <pc:sldMk cId="560234623" sldId="289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03T12:15:41.104" v="0" actId="47"/>
        <pc:sldMkLst>
          <pc:docMk/>
          <pc:sldMk cId="2900117438" sldId="29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16/02/2026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E4B56-6B01-1B56-088F-9C4CB5DF1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B8EAEA0-121F-B5C5-8811-BDC5C0610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B95947-ABE7-E097-5563-793607920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1777315-6F16-4B94-8050-2D2423BA22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36903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DDB-FC66-6BCC-A755-53EB38AFA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81EC6B8-8FF6-5A70-E31A-ADA710B675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D7B6567-0E82-B5F5-88FC-FAD17F535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FDCB85-119D-3607-B4C1-F371C902C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5691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79D7A-B353-C878-088B-C12B144C8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93EEBF4-5ECF-D67D-838D-C186C3A19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33BA97D-7E8F-5F7E-4BA6-A0E94F6D5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EE076E1-E76A-34FD-7113-6FBC2177CB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37704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9953-A3E7-EBCB-02D9-BDEB50776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217D450-585F-DC5F-CA14-E09124768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82A74DF-6105-6C37-60CB-59E07A131C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4DBCB9-241F-215E-F27D-9876CBEA4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8087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70C96-FC96-6D49-7AE9-32C3C6036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E1D6942-5E6A-02C4-6E1E-7977142F0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7694B3E-BE50-3BA3-084E-E1EF1E02F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08ECC2-5683-8F86-9279-189D393FE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7393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AF91C-7F88-4795-C05E-160034E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BB76315-4895-B8B0-D1B0-BA01F253DA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A9CF1F5-7047-A41B-45A7-FC35D3AB4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F885087-D3DA-7F61-A2BB-AA7384F6B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36565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0.1. MODESOLVER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0.1. MODESOLVER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0.git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0.1. </a:t>
            </a:r>
            <a:r>
              <a:rPr lang="es-ES" sz="3200" b="1" dirty="0" err="1">
                <a:latin typeface="Lucida Sans"/>
                <a:cs typeface="Lucida Sans"/>
              </a:rPr>
              <a:t>ModeSolver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  <a:hlinkClick r:id="rId4"/>
              </a:rPr>
              <a:t>https://github.com/cccanvas-upv/pic-upv-lab0.git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010_MODESOLVER_Student.ipynb </a:t>
            </a:r>
          </a:p>
          <a:p>
            <a:pPr algn="just"/>
            <a:r>
              <a:rPr lang="en-US" b="1" kern="0" dirty="0">
                <a:solidFill>
                  <a:sysClr val="windowText" lastClr="000000"/>
                </a:solidFill>
              </a:rPr>
              <a:t>INSTRUCTIONS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dirty="0"/>
              <a:t>We are going to work with different </a:t>
            </a:r>
            <a:r>
              <a:rPr lang="en-US" b="1" i="1" dirty="0"/>
              <a:t>Cross-Sections. </a:t>
            </a:r>
            <a:r>
              <a:rPr lang="en-US" dirty="0"/>
              <a:t>In general, we will need: </a:t>
            </a:r>
            <a:r>
              <a:rPr lang="en-US" b="1" i="1" dirty="0"/>
              <a:t>Materials</a:t>
            </a:r>
            <a:r>
              <a:rPr lang="en-US" dirty="0"/>
              <a:t> definitions and the </a:t>
            </a:r>
            <a:r>
              <a:rPr lang="en-US" b="1" dirty="0"/>
              <a:t>Geometrical</a:t>
            </a:r>
            <a:r>
              <a:rPr lang="en-US" dirty="0"/>
              <a:t> parameters of each Cross-section</a:t>
            </a:r>
            <a:r>
              <a:rPr lang="en-US" b="1" i="1" dirty="0"/>
              <a:t>.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5" name="object 7">
            <a:extLst>
              <a:ext uri="{FF2B5EF4-FFF2-40B4-BE49-F238E27FC236}">
                <a16:creationId xmlns:a16="http://schemas.microsoft.com/office/drawing/2014/main" id="{B99085AB-5BCA-5571-FA65-E3617707DBFA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17590B25-6ABE-9620-2C63-B4856DDBCE5D}"/>
              </a:ext>
            </a:extLst>
          </p:cNvPr>
          <p:cNvSpPr/>
          <p:nvPr/>
        </p:nvSpPr>
        <p:spPr>
          <a:xfrm>
            <a:off x="1245115" y="4499713"/>
            <a:ext cx="544195" cy="344805"/>
          </a:xfrm>
          <a:custGeom>
            <a:avLst/>
            <a:gdLst/>
            <a:ahLst/>
            <a:cxnLst/>
            <a:rect l="l" t="t" r="r" b="b"/>
            <a:pathLst>
              <a:path w="544195" h="344805">
                <a:moveTo>
                  <a:pt x="0" y="344424"/>
                </a:moveTo>
                <a:lnTo>
                  <a:pt x="544067" y="344424"/>
                </a:lnTo>
                <a:lnTo>
                  <a:pt x="544067" y="0"/>
                </a:lnTo>
                <a:lnTo>
                  <a:pt x="0" y="0"/>
                </a:lnTo>
                <a:lnTo>
                  <a:pt x="0" y="344424"/>
                </a:lnTo>
                <a:close/>
              </a:path>
            </a:pathLst>
          </a:custGeom>
          <a:ln w="12191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object 9">
            <a:extLst>
              <a:ext uri="{FF2B5EF4-FFF2-40B4-BE49-F238E27FC236}">
                <a16:creationId xmlns:a16="http://schemas.microsoft.com/office/drawing/2014/main" id="{854026DA-C7BC-391A-30F9-BF8D7187210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1322832" y="0"/>
                </a:moveTo>
                <a:lnTo>
                  <a:pt x="769493" y="0"/>
                </a:lnTo>
                <a:lnTo>
                  <a:pt x="0" y="594359"/>
                </a:lnTo>
                <a:lnTo>
                  <a:pt x="553338" y="594359"/>
                </a:lnTo>
                <a:lnTo>
                  <a:pt x="1322832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5" name="object 10">
            <a:extLst>
              <a:ext uri="{FF2B5EF4-FFF2-40B4-BE49-F238E27FC236}">
                <a16:creationId xmlns:a16="http://schemas.microsoft.com/office/drawing/2014/main" id="{68F18FA1-D512-5553-8E16-C81F17B1FD4E}"/>
              </a:ext>
            </a:extLst>
          </p:cNvPr>
          <p:cNvSpPr/>
          <p:nvPr/>
        </p:nvSpPr>
        <p:spPr>
          <a:xfrm>
            <a:off x="1245115" y="3905354"/>
            <a:ext cx="1323340" cy="594360"/>
          </a:xfrm>
          <a:custGeom>
            <a:avLst/>
            <a:gdLst/>
            <a:ahLst/>
            <a:cxnLst/>
            <a:rect l="l" t="t" r="r" b="b"/>
            <a:pathLst>
              <a:path w="1323340" h="594360">
                <a:moveTo>
                  <a:pt x="0" y="594359"/>
                </a:moveTo>
                <a:lnTo>
                  <a:pt x="769493" y="0"/>
                </a:lnTo>
                <a:lnTo>
                  <a:pt x="1322832" y="0"/>
                </a:lnTo>
                <a:lnTo>
                  <a:pt x="553338" y="594359"/>
                </a:lnTo>
                <a:lnTo>
                  <a:pt x="0" y="594359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6" name="object 11">
            <a:extLst>
              <a:ext uri="{FF2B5EF4-FFF2-40B4-BE49-F238E27FC236}">
                <a16:creationId xmlns:a16="http://schemas.microsoft.com/office/drawing/2014/main" id="{B6F403B3-198D-766C-7FF5-06096D396DAF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7" name="object 12">
            <a:extLst>
              <a:ext uri="{FF2B5EF4-FFF2-40B4-BE49-F238E27FC236}">
                <a16:creationId xmlns:a16="http://schemas.microsoft.com/office/drawing/2014/main" id="{B4F33324-81A2-6D30-47DD-7A67FD038073}"/>
              </a:ext>
            </a:extLst>
          </p:cNvPr>
          <p:cNvSpPr/>
          <p:nvPr/>
        </p:nvSpPr>
        <p:spPr>
          <a:xfrm>
            <a:off x="1789183" y="3905354"/>
            <a:ext cx="779145" cy="939165"/>
          </a:xfrm>
          <a:custGeom>
            <a:avLst/>
            <a:gdLst/>
            <a:ahLst/>
            <a:cxnLst/>
            <a:rect l="l" t="t" r="r" b="b"/>
            <a:pathLst>
              <a:path w="779145" h="939164">
                <a:moveTo>
                  <a:pt x="778763" y="0"/>
                </a:moveTo>
                <a:lnTo>
                  <a:pt x="0" y="593343"/>
                </a:lnTo>
                <a:lnTo>
                  <a:pt x="0" y="938783"/>
                </a:lnTo>
                <a:lnTo>
                  <a:pt x="778763" y="345439"/>
                </a:lnTo>
                <a:lnTo>
                  <a:pt x="778763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8" name="object 13">
            <a:extLst>
              <a:ext uri="{FF2B5EF4-FFF2-40B4-BE49-F238E27FC236}">
                <a16:creationId xmlns:a16="http://schemas.microsoft.com/office/drawing/2014/main" id="{E5CE242A-CD6F-B6AA-8CF8-3F65AA839201}"/>
              </a:ext>
            </a:extLst>
          </p:cNvPr>
          <p:cNvSpPr/>
          <p:nvPr/>
        </p:nvSpPr>
        <p:spPr>
          <a:xfrm>
            <a:off x="659898" y="4205582"/>
            <a:ext cx="1858010" cy="1065530"/>
          </a:xfrm>
          <a:custGeom>
            <a:avLst/>
            <a:gdLst/>
            <a:ahLst/>
            <a:cxnLst/>
            <a:rect l="l" t="t" r="r" b="b"/>
            <a:pathLst>
              <a:path w="1858009" h="1065530">
                <a:moveTo>
                  <a:pt x="0" y="1065276"/>
                </a:moveTo>
                <a:lnTo>
                  <a:pt x="1857755" y="1065276"/>
                </a:lnTo>
                <a:lnTo>
                  <a:pt x="1857755" y="0"/>
                </a:lnTo>
                <a:lnTo>
                  <a:pt x="0" y="0"/>
                </a:lnTo>
                <a:lnTo>
                  <a:pt x="0" y="1065276"/>
                </a:lnTo>
                <a:close/>
              </a:path>
            </a:pathLst>
          </a:custGeom>
          <a:solidFill>
            <a:srgbClr val="7E7E7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9" name="object 18">
            <a:extLst>
              <a:ext uri="{FF2B5EF4-FFF2-40B4-BE49-F238E27FC236}">
                <a16:creationId xmlns:a16="http://schemas.microsoft.com/office/drawing/2014/main" id="{E00C02E3-A945-AC3C-8DDF-4BF7E88C3196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object 19">
            <a:extLst>
              <a:ext uri="{FF2B5EF4-FFF2-40B4-BE49-F238E27FC236}">
                <a16:creationId xmlns:a16="http://schemas.microsoft.com/office/drawing/2014/main" id="{0ED35790-2683-BB1F-331A-34862F355D64}"/>
              </a:ext>
            </a:extLst>
          </p:cNvPr>
          <p:cNvSpPr/>
          <p:nvPr/>
        </p:nvSpPr>
        <p:spPr>
          <a:xfrm>
            <a:off x="458730" y="5106266"/>
            <a:ext cx="544195" cy="342900"/>
          </a:xfrm>
          <a:custGeom>
            <a:avLst/>
            <a:gdLst/>
            <a:ahLst/>
            <a:cxnLst/>
            <a:rect l="l" t="t" r="r" b="b"/>
            <a:pathLst>
              <a:path w="544195" h="342900">
                <a:moveTo>
                  <a:pt x="0" y="342900"/>
                </a:moveTo>
                <a:lnTo>
                  <a:pt x="544068" y="342900"/>
                </a:lnTo>
                <a:lnTo>
                  <a:pt x="544068" y="0"/>
                </a:lnTo>
                <a:lnTo>
                  <a:pt x="0" y="0"/>
                </a:lnTo>
                <a:lnTo>
                  <a:pt x="0" y="34290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1" name="object 20">
            <a:extLst>
              <a:ext uri="{FF2B5EF4-FFF2-40B4-BE49-F238E27FC236}">
                <a16:creationId xmlns:a16="http://schemas.microsoft.com/office/drawing/2014/main" id="{C74C0B99-9868-5B85-03B4-95E6CF78D9A3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1324356" y="0"/>
                </a:moveTo>
                <a:lnTo>
                  <a:pt x="769493" y="0"/>
                </a:lnTo>
                <a:lnTo>
                  <a:pt x="0" y="594360"/>
                </a:lnTo>
                <a:lnTo>
                  <a:pt x="554863" y="594360"/>
                </a:lnTo>
                <a:lnTo>
                  <a:pt x="1324356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2" name="object 21">
            <a:extLst>
              <a:ext uri="{FF2B5EF4-FFF2-40B4-BE49-F238E27FC236}">
                <a16:creationId xmlns:a16="http://schemas.microsoft.com/office/drawing/2014/main" id="{0D0A668E-1248-C952-0D69-9AC115F5AEBD}"/>
              </a:ext>
            </a:extLst>
          </p:cNvPr>
          <p:cNvSpPr/>
          <p:nvPr/>
        </p:nvSpPr>
        <p:spPr>
          <a:xfrm>
            <a:off x="458730" y="4511906"/>
            <a:ext cx="1324610" cy="594360"/>
          </a:xfrm>
          <a:custGeom>
            <a:avLst/>
            <a:gdLst/>
            <a:ahLst/>
            <a:cxnLst/>
            <a:rect l="l" t="t" r="r" b="b"/>
            <a:pathLst>
              <a:path w="1324610" h="594360">
                <a:moveTo>
                  <a:pt x="0" y="594360"/>
                </a:moveTo>
                <a:lnTo>
                  <a:pt x="769493" y="0"/>
                </a:lnTo>
                <a:lnTo>
                  <a:pt x="1324356" y="0"/>
                </a:lnTo>
                <a:lnTo>
                  <a:pt x="554863" y="594360"/>
                </a:lnTo>
                <a:lnTo>
                  <a:pt x="0" y="59436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3" name="object 22">
            <a:extLst>
              <a:ext uri="{FF2B5EF4-FFF2-40B4-BE49-F238E27FC236}">
                <a16:creationId xmlns:a16="http://schemas.microsoft.com/office/drawing/2014/main" id="{9D87B857-066A-6AC9-C60A-5A69ADC38AAB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solidFill>
            <a:srgbClr val="CCB65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4" name="object 23">
            <a:extLst>
              <a:ext uri="{FF2B5EF4-FFF2-40B4-BE49-F238E27FC236}">
                <a16:creationId xmlns:a16="http://schemas.microsoft.com/office/drawing/2014/main" id="{218D47D4-6432-730D-48B9-7A6C6E31E473}"/>
              </a:ext>
            </a:extLst>
          </p:cNvPr>
          <p:cNvSpPr/>
          <p:nvPr/>
        </p:nvSpPr>
        <p:spPr>
          <a:xfrm>
            <a:off x="1002798" y="4511906"/>
            <a:ext cx="780415" cy="937260"/>
          </a:xfrm>
          <a:custGeom>
            <a:avLst/>
            <a:gdLst/>
            <a:ahLst/>
            <a:cxnLst/>
            <a:rect l="l" t="t" r="r" b="b"/>
            <a:pathLst>
              <a:path w="780414" h="937260">
                <a:moveTo>
                  <a:pt x="780288" y="0"/>
                </a:moveTo>
                <a:lnTo>
                  <a:pt x="0" y="594613"/>
                </a:lnTo>
                <a:lnTo>
                  <a:pt x="0" y="937260"/>
                </a:lnTo>
                <a:lnTo>
                  <a:pt x="780288" y="342645"/>
                </a:lnTo>
                <a:lnTo>
                  <a:pt x="780288" y="0"/>
                </a:lnTo>
                <a:close/>
              </a:path>
            </a:pathLst>
          </a:custGeom>
          <a:ln w="12192">
            <a:solidFill>
              <a:srgbClr val="6F60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5" name="object 33">
            <a:extLst>
              <a:ext uri="{FF2B5EF4-FFF2-40B4-BE49-F238E27FC236}">
                <a16:creationId xmlns:a16="http://schemas.microsoft.com/office/drawing/2014/main" id="{1ADEEC13-CD1C-B10C-519D-C80EDB6B6995}"/>
              </a:ext>
            </a:extLst>
          </p:cNvPr>
          <p:cNvSpPr txBox="1"/>
          <p:nvPr/>
        </p:nvSpPr>
        <p:spPr>
          <a:xfrm>
            <a:off x="1438790" y="5254855"/>
            <a:ext cx="10661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Calibri"/>
                <a:cs typeface="Calibri"/>
              </a:rPr>
              <a:t>XY</a:t>
            </a:r>
            <a:r>
              <a:rPr sz="1200" b="1" spc="-35" dirty="0">
                <a:latin typeface="Calibri"/>
                <a:cs typeface="Calibri"/>
              </a:rPr>
              <a:t> </a:t>
            </a:r>
            <a:r>
              <a:rPr sz="1200" b="1" spc="-5" dirty="0">
                <a:latin typeface="Calibri"/>
                <a:cs typeface="Calibri"/>
              </a:rPr>
              <a:t>Cross-section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321375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4058049" y="4276669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3402119" y="4503822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429579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481573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429579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629497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3" name="Flecha: a la derecha 102">
            <a:extLst>
              <a:ext uri="{FF2B5EF4-FFF2-40B4-BE49-F238E27FC236}">
                <a16:creationId xmlns:a16="http://schemas.microsoft.com/office/drawing/2014/main" id="{9104F8E7-45F4-CD32-78F2-E3303B105AF2}"/>
              </a:ext>
            </a:extLst>
          </p:cNvPr>
          <p:cNvSpPr/>
          <p:nvPr/>
        </p:nvSpPr>
        <p:spPr>
          <a:xfrm>
            <a:off x="2652837" y="4587205"/>
            <a:ext cx="390281" cy="177451"/>
          </a:xfrm>
          <a:prstGeom prst="rightArrow">
            <a:avLst/>
          </a:prstGeom>
          <a:solidFill>
            <a:schemeClr val="accent2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749273" y="3715837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831313" y="4066357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9351251" y="3825642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831313" y="4276669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830496" y="4631165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749273" y="4983731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933783" y="4287133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591080" y="4982122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709867" y="5180039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9064251" y="4282997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664364" y="5549983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5280887" y="5549983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of different modes, comparison between different polarizations…)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31A42-D867-FD10-340E-4978177F8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A9815B3-B866-6DC5-4C10-BA64984E03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89603784-319A-2B9F-F3D2-1D228BFED5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53F5371-F6C4-076A-EA0E-74A8A13644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1D444CA-C9A5-8385-4816-7C8DDD97CF40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8EE921BC-1300-E6BB-0745-5F532646B1D5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837C079-CC18-AA7D-9B7B-A06292D10B36}"/>
              </a:ext>
            </a:extLst>
          </p:cNvPr>
          <p:cNvSpPr txBox="1"/>
          <p:nvPr/>
        </p:nvSpPr>
        <p:spPr>
          <a:xfrm>
            <a:off x="609441" y="4860334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Ploteamos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transversal con core material sin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 material sio2. 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aproximadamente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1.5.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BC0F90D0-DE2E-3894-3AB0-4CFA5A9A5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293668"/>
            <a:ext cx="4572000" cy="334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834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C0977-E506-93A0-D737-2141593DE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A181D71-3830-D680-CC0D-B9F5866E4F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33BB8BE-C10F-9925-E978-1025A2D657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5A274A2-21AC-F649-A9CB-E4754B5EEBA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B8A177-1996-5CAB-6262-1AA0A3EEEB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C46E7930-DD91-97CE-FA2E-C74709172778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CCF090D-1DA1-BA58-906C-0268A2405C69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imprimir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2 “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correctamente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”. Los dos posteriores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viajarán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vagamenete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valor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cladding.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5BAED3B8-C7EC-1E65-89D9-E416249B00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9400" y="2362200"/>
            <a:ext cx="6306430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417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5706D-F9C4-45A7-F547-73CCD0D0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4158DBB-574E-FB15-C7B7-03B7C740FA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A27E5D2E-F3B7-6146-5CCB-30DDDDE648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D481CA3-6CB7-8738-2FD9-8E713E795A25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77D2AAD-7B62-D11E-BDC8-059792B553C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708A9C40-585E-360F-194D-385E0E380F41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725B091-5BA2-8388-713B-4575D01AFD81}"/>
              </a:ext>
            </a:extLst>
          </p:cNvPr>
          <p:cNvSpPr txBox="1"/>
          <p:nvPr/>
        </p:nvSpPr>
        <p:spPr>
          <a:xfrm>
            <a:off x="609441" y="4860334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fracción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correspondiente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TE y TM.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ejemplo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es quasi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1 es quasi TM. En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fundamental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fundamental TM.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9679C457-5AD3-17BE-69AA-13780C1F6B9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4754" b="29782"/>
          <a:stretch>
            <a:fillRect/>
          </a:stretch>
        </p:blipFill>
        <p:spPr>
          <a:xfrm>
            <a:off x="685800" y="1406108"/>
            <a:ext cx="7716327" cy="422691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7FBD8C5-5BE5-7A6F-1ACF-87624E148137}"/>
              </a:ext>
            </a:extLst>
          </p:cNvPr>
          <p:cNvSpPr txBox="1"/>
          <p:nvPr/>
        </p:nvSpPr>
        <p:spPr>
          <a:xfrm>
            <a:off x="8519825" y="1371600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Fracción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TE</a:t>
            </a:r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DC5E0D5-1BBE-AE70-C2F0-5550C43408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2403911"/>
            <a:ext cx="7716327" cy="431207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AB417C18-BD41-6273-91E5-A3BD5B2404F0}"/>
              </a:ext>
            </a:extLst>
          </p:cNvPr>
          <p:cNvSpPr txBox="1"/>
          <p:nvPr/>
        </p:nvSpPr>
        <p:spPr>
          <a:xfrm>
            <a:off x="8453487" y="2412427"/>
            <a:ext cx="732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Fracción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TM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1352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4A379-73AA-86CB-A6D2-E1419199A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AD323ED-4732-C59A-9AD4-E8C7350B79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E4F5BA9-5BAE-3994-7152-E9517A8549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3D7697E-8970-7B6D-B01D-EAE0C67B66F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9636D40-BBB8-C466-4E36-9D7960A3573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319ECC63-18D4-B2DF-B9D9-D6707BB05CAA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A23318D-E27D-A427-467D-8514BD249B13}"/>
              </a:ext>
            </a:extLst>
          </p:cNvPr>
          <p:cNvSpPr txBox="1"/>
          <p:nvPr/>
        </p:nvSpPr>
        <p:spPr>
          <a:xfrm>
            <a:off x="609441" y="4860334"/>
            <a:ext cx="1119997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distribución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fundamental TE,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dentro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core.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algo de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evanescente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previamente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sabíamos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era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inexistente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corroborarlo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imagen bajo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título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Contribución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TM.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n 9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997CF3B-75BA-163E-CBB1-C2D0D6CCD8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12" y="1308321"/>
            <a:ext cx="4753553" cy="3190890"/>
          </a:xfrm>
          <a:prstGeom prst="rect">
            <a:avLst/>
          </a:prstGeom>
        </p:spPr>
      </p:pic>
      <p:pic>
        <p:nvPicPr>
          <p:cNvPr id="14" name="Imagen 1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E38ABD3E-3785-BDB4-F2A2-F796DBB92E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38800" y="1293667"/>
            <a:ext cx="4800600" cy="326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815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44D63-9B9A-388D-25C3-E1208A14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DC8A679-AFCF-3C00-67FE-5F9E1588B6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D143E16-8917-7995-05D0-1A440AD90D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86CCD6A-2DF5-23E0-23C9-C93D73F6091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896B467-DB75-8A75-097B-E0DB8FCC5F7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E267D3C0-7722-30C1-3C2A-73DF53157308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2DA2A28-46E7-C7E4-C5BC-21B17A52A130}"/>
              </a:ext>
            </a:extLst>
          </p:cNvPr>
          <p:cNvSpPr txBox="1"/>
          <p:nvPr/>
        </p:nvSpPr>
        <p:spPr>
          <a:xfrm>
            <a:off x="609441" y="4860334"/>
            <a:ext cx="1119997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Analizando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distribución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modo fundamental TM, con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viaja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cladding. 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previamente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sabíamos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era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inexistente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corroborarlo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la imagen bajo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título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Contribución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TE.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n 7" descr="Gráfico&#10;&#10;El contenido generado por IA puede ser incorrecto.">
            <a:extLst>
              <a:ext uri="{FF2B5EF4-FFF2-40B4-BE49-F238E27FC236}">
                <a16:creationId xmlns:a16="http://schemas.microsoft.com/office/drawing/2014/main" id="{BA951CE3-80FA-EB69-6DDA-9221B04335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342" y="1092456"/>
            <a:ext cx="4986916" cy="3332245"/>
          </a:xfrm>
          <a:prstGeom prst="rect">
            <a:avLst/>
          </a:prstGeom>
        </p:spPr>
      </p:pic>
      <p:pic>
        <p:nvPicPr>
          <p:cNvPr id="11" name="Imagen 10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5B765D51-96BA-AD6C-6D46-48D3E9D226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9800" y="890125"/>
            <a:ext cx="5567403" cy="368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086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3A218-4A34-7ECA-9FB0-61756E5B1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53E6445-9E16-D835-4578-797731976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06A449E7-22B6-F107-9D7E-1AFD6C1353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D54FE9E-9A74-3469-0E08-360BC21D8B7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C4FF5F5-6E31-EC23-FDF4-9D736399534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38684CFB-3CE9-B364-77AA-F82B2E3EC732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3312669-8277-1F63-4ABB-EE9A666D1F08}"/>
              </a:ext>
            </a:extLst>
          </p:cNvPr>
          <p:cNvSpPr txBox="1"/>
          <p:nvPr/>
        </p:nvSpPr>
        <p:spPr>
          <a:xfrm>
            <a:off x="609441" y="4860334"/>
            <a:ext cx="11199971" cy="175432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siguientes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corresponden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uno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quasi TE, y de nuevo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posterior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quasi TM.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poco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intensiad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 descr="Gráfico&#10;&#10;El contenido generado por IA puede ser incorrecto.">
            <a:extLst>
              <a:ext uri="{FF2B5EF4-FFF2-40B4-BE49-F238E27FC236}">
                <a16:creationId xmlns:a16="http://schemas.microsoft.com/office/drawing/2014/main" id="{14BE0EB1-03EA-9CCF-5CAC-D5C7C2850F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600200"/>
            <a:ext cx="3505200" cy="2390090"/>
          </a:xfrm>
          <a:prstGeom prst="rect">
            <a:avLst/>
          </a:prstGeom>
        </p:spPr>
      </p:pic>
      <p:pic>
        <p:nvPicPr>
          <p:cNvPr id="9" name="Imagen 8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C3486E99-4DDC-A239-CA74-707B5581DF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1200" y="1524000"/>
            <a:ext cx="4539359" cy="2985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289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0.02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25605" y="4904218"/>
            <a:ext cx="11199971" cy="2677656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Deep Waveguide.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slab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estén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primer modo es TE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Si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tuviera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alguna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forma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filtrar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polarización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la entrada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circuito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entonces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monomodo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monomodo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Podria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monomodo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monomodo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orden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ambas, TE0 o TM0.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modela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váría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no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tendremos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Operará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manera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diferente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núcleo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nitruro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silicio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índice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2.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Entonces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confinado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  <p:pic>
        <p:nvPicPr>
          <p:cNvPr id="10" name="Imagen 9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F8352F8-9D55-0A91-7C62-AF0F3E3764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205" y="1564998"/>
            <a:ext cx="5333710" cy="2919724"/>
          </a:xfrm>
          <a:prstGeom prst="rect">
            <a:avLst/>
          </a:prstGeom>
        </p:spPr>
      </p:pic>
      <p:pic>
        <p:nvPicPr>
          <p:cNvPr id="12" name="Imagen 11" descr="Gráfico&#10;&#10;El contenido generado por IA puede ser incorrecto.">
            <a:extLst>
              <a:ext uri="{FF2B5EF4-FFF2-40B4-BE49-F238E27FC236}">
                <a16:creationId xmlns:a16="http://schemas.microsoft.com/office/drawing/2014/main" id="{2E412073-5B4F-E16F-7D6E-1C978D3D99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0212" y="1548801"/>
            <a:ext cx="5505828" cy="2986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1748</TotalTime>
  <Words>776</Words>
  <Application>Microsoft Office PowerPoint</Application>
  <PresentationFormat>Panorámica</PresentationFormat>
  <Paragraphs>133</Paragraphs>
  <Slides>11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#1 – Effective index of a waveguide </vt:lpstr>
      <vt:lpstr>Learning outcome #1 – Effective index of a waveguide </vt:lpstr>
      <vt:lpstr>Learning outcome #1 – Effective index of a waveguide </vt:lpstr>
      <vt:lpstr>Learning outcome #1 – Effective index of a waveguide </vt:lpstr>
      <vt:lpstr>Learning outcome #1 – Effective index of a waveguide </vt:lpstr>
      <vt:lpstr>Learning outcome #1 – Effective index of a waveguide </vt:lpstr>
      <vt:lpstr>Learning outcome #2 – Wavelength behavior Wavelength 1.5-1.6 µm (step 0.02 µm) – width 1.2 µm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11</cp:revision>
  <dcterms:created xsi:type="dcterms:W3CDTF">2025-01-27T02:46:57Z</dcterms:created>
  <dcterms:modified xsi:type="dcterms:W3CDTF">2026-02-16T09:38:30Z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