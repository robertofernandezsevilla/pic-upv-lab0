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6" r:id="rId2"/>
    <p:sldId id="289" r:id="rId3"/>
    <p:sldId id="290" r:id="rId4"/>
    <p:sldId id="291" r:id="rId5"/>
    <p:sldId id="288" r:id="rId6"/>
  </p:sldIdLst>
  <p:sldSz cx="12192000" cy="6858000"/>
  <p:notesSz cx="12192000" cy="6858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3102A6-F98F-48C7-9AF4-68940EB5B3D9}" v="4" dt="2026-02-03T12:19:17.949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538" autoAdjust="0"/>
    <p:restoredTop sz="95033" autoAdjust="0"/>
  </p:normalViewPr>
  <p:slideViewPr>
    <p:cSldViewPr>
      <p:cViewPr varScale="1">
        <p:scale>
          <a:sx n="83" d="100"/>
          <a:sy n="83" d="100"/>
        </p:scale>
        <p:origin x="1123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3" d="100"/>
          <a:sy n="83" d="100"/>
        </p:scale>
        <p:origin x="1392" y="6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ian Camilo Cano Vasquez" userId="8c73a2a4-758b-4e34-81ed-39462e48bd92" providerId="ADAL" clId="{E6287060-0277-4BCC-9556-78F4A9113EC4}"/>
    <pc:docChg chg="delSld modSld">
      <pc:chgData name="Christian Camilo Cano Vasquez" userId="8c73a2a4-758b-4e34-81ed-39462e48bd92" providerId="ADAL" clId="{E6287060-0277-4BCC-9556-78F4A9113EC4}" dt="2026-02-03T12:19:54.710" v="164" actId="113"/>
      <pc:docMkLst>
        <pc:docMk/>
      </pc:docMkLst>
      <pc:sldChg chg="modSp mod">
        <pc:chgData name="Christian Camilo Cano Vasquez" userId="8c73a2a4-758b-4e34-81ed-39462e48bd92" providerId="ADAL" clId="{E6287060-0277-4BCC-9556-78F4A9113EC4}" dt="2026-02-03T12:19:54.710" v="164" actId="113"/>
        <pc:sldMkLst>
          <pc:docMk/>
          <pc:sldMk cId="560234623" sldId="289"/>
        </pc:sldMkLst>
        <pc:spChg chg="mod">
          <ac:chgData name="Christian Camilo Cano Vasquez" userId="8c73a2a4-758b-4e34-81ed-39462e48bd92" providerId="ADAL" clId="{E6287060-0277-4BCC-9556-78F4A9113EC4}" dt="2026-02-03T12:19:54.710" v="164" actId="113"/>
          <ac:spMkLst>
            <pc:docMk/>
            <pc:sldMk cId="560234623" sldId="289"/>
            <ac:spMk id="4" creationId="{9F7BC140-B3D8-C3CB-55AD-9064C7CDE9CA}"/>
          </ac:spMkLst>
        </pc:spChg>
      </pc:sldChg>
      <pc:sldChg chg="del">
        <pc:chgData name="Christian Camilo Cano Vasquez" userId="8c73a2a4-758b-4e34-81ed-39462e48bd92" providerId="ADAL" clId="{E6287060-0277-4BCC-9556-78F4A9113EC4}" dt="2026-02-03T12:15:41.104" v="0" actId="47"/>
        <pc:sldMkLst>
          <pc:docMk/>
          <pc:sldMk cId="2900117438" sldId="29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ADD96E76-517F-B468-04D8-38EFA44947E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678D0B9-782A-7C16-D731-EEB7F991FA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38F8DC-35B0-48E6-A86E-42F1F08DD00F}" type="datetimeFigureOut">
              <a:rPr lang="es-ES" smtClean="0"/>
              <a:t>16/02/2026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F2E7B1C-60E2-8A48-EEE0-6715FC30A8B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428D795-4EA2-62F0-B78A-5F215C828C5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6A549-763A-4A89-A454-A94BAF51395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034777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CBDC12-F39B-4B97-8F4D-6734F9D366FF}" type="datetimeFigureOut">
              <a:rPr lang="es-ES" smtClean="0"/>
              <a:t>16/02/2026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6223B9-C868-4436-87D9-1A3152E1157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34211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925323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C5711-C157-AA5E-1EA1-9F4C3F40B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FA117F6-F66D-FFD4-422F-EBD94B31F3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2B512FE-9F6C-4ABD-23FA-CA518B458D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624E7A5-CBFC-658B-8E88-8AF8084D5B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223B9-C868-4436-87D9-1A3152E1157A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329614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0.1. MODESOLVER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90550" y="206752"/>
            <a:ext cx="10991850" cy="307777"/>
          </a:xfrm>
        </p:spPr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2152910"/>
            <a:ext cx="10972800" cy="3950710"/>
          </a:xfrm>
        </p:spPr>
        <p:txBody>
          <a:bodyPr lIns="0" tIns="0" rIns="0" bIns="0"/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09600" y="6457057"/>
            <a:ext cx="2743200" cy="184666"/>
          </a:xfrm>
        </p:spPr>
        <p:txBody>
          <a:bodyPr lIns="0" tIns="0" rIns="0" bIns="0" anchor="ctr"/>
          <a:lstStyle>
            <a:lvl1pPr>
              <a:defRPr sz="12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spcBef>
                <a:spcPts val="15"/>
              </a:spcBef>
            </a:pPr>
            <a:r>
              <a:rPr lang="es-ES" spc="-5"/>
              <a:t>LAB 0.1. MODESOLVER</a:t>
            </a:r>
            <a:endParaRPr lang="es-ES" spc="-5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1164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0.1. MODESOLVER</a:t>
            </a:r>
            <a:endParaRPr spc="-5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2636520"/>
            <a:ext cx="3944620" cy="1584960"/>
          </a:xfrm>
          <a:custGeom>
            <a:avLst/>
            <a:gdLst/>
            <a:ahLst/>
            <a:cxnLst/>
            <a:rect l="l" t="t" r="r" b="b"/>
            <a:pathLst>
              <a:path w="3944620" h="1584960">
                <a:moveTo>
                  <a:pt x="0" y="1584959"/>
                </a:moveTo>
                <a:lnTo>
                  <a:pt x="3944112" y="1584959"/>
                </a:lnTo>
                <a:lnTo>
                  <a:pt x="3944112" y="0"/>
                </a:lnTo>
                <a:lnTo>
                  <a:pt x="0" y="0"/>
                </a:lnTo>
                <a:lnTo>
                  <a:pt x="0" y="15849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771144" y="2951988"/>
            <a:ext cx="2403348" cy="9540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>
          <a:xfrm>
            <a:off x="929640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F5CB4B75-CC85-5F87-B13B-97FD63FFBC5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91213" y="6357666"/>
            <a:ext cx="6409575" cy="3631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594327" y="4722313"/>
            <a:ext cx="1521016" cy="125385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9372600" y="6377940"/>
            <a:ext cx="2804160" cy="34290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9F3DE434-B07E-429D-5547-0D42DA9B05A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891539" y="5283707"/>
            <a:ext cx="2624328" cy="157428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86910" y="1699005"/>
            <a:ext cx="2599054" cy="2692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695950" y="6465068"/>
            <a:ext cx="1210945" cy="153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58585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lang="es-ES" spc="-5"/>
              <a:t>LAB 0.1. MODESOLVER</a:t>
            </a:r>
            <a:endParaRPr spc="-5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116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cccanvas-upv/pic-upv-lab0.git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749676" y="4919853"/>
            <a:ext cx="6106795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3200" b="1" dirty="0" err="1">
                <a:latin typeface="Lucida Sans"/>
                <a:cs typeface="Lucida Sans"/>
              </a:rPr>
              <a:t>Lab</a:t>
            </a:r>
            <a:r>
              <a:rPr lang="es-ES" sz="3200" b="1" dirty="0">
                <a:latin typeface="Lucida Sans"/>
                <a:cs typeface="Lucida Sans"/>
              </a:rPr>
              <a:t> Book 0.1. </a:t>
            </a:r>
            <a:r>
              <a:rPr lang="es-ES" sz="3200" b="1" dirty="0" err="1">
                <a:latin typeface="Lucida Sans"/>
                <a:cs typeface="Lucida Sans"/>
              </a:rPr>
              <a:t>ModeSolver</a:t>
            </a:r>
            <a:endParaRPr sz="3200" dirty="0">
              <a:latin typeface="Lucida Sans"/>
              <a:cs typeface="Lucida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49676" y="5610250"/>
            <a:ext cx="8223124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pc="165" dirty="0" err="1">
                <a:latin typeface="Arial"/>
                <a:cs typeface="Arial"/>
              </a:rPr>
              <a:t>Student</a:t>
            </a:r>
            <a:r>
              <a:rPr lang="es-ES" spc="165" dirty="0">
                <a:latin typeface="Arial"/>
                <a:cs typeface="Arial"/>
              </a:rPr>
              <a:t>: 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12192000" cy="41894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6F66F51-9238-50FE-85C2-BAC3DA79D76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1</a:t>
            </a:fld>
            <a:endParaRPr lang="es-E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8A4D4-C3C4-085B-A7AD-EA04D83F4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1B7433F1-7A0E-D925-6140-7305139D05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6153785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S" sz="2500" u="sng" spc="-5" dirty="0" err="1">
                <a:latin typeface="+mj-lt"/>
                <a:cs typeface="Lucida Sans"/>
              </a:rPr>
              <a:t>Instructions</a:t>
            </a:r>
            <a:br>
              <a:rPr lang="es-ES" sz="2400" spc="-5" dirty="0">
                <a:latin typeface="+mj-lt"/>
                <a:cs typeface="Lucida Sans"/>
              </a:rPr>
            </a:br>
            <a:r>
              <a:rPr lang="es-ES" b="0" spc="-5" dirty="0">
                <a:latin typeface="+mj-lt"/>
                <a:cs typeface="Lucida Sans"/>
              </a:rPr>
              <a:t>General</a:t>
            </a:r>
            <a:endParaRPr sz="24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E518E73B-CE22-A00C-9C86-634FB762EE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1E163A6B-DFE4-C67D-5F3E-A56ACEF2EA4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2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5FC84FF-30D3-FDAB-0A5A-0F07F8EE116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 dirty="0"/>
              <a:t>LAB 0.1. MODESOLVER</a:t>
            </a:r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9F7BC140-B3D8-C3CB-55AD-9064C7CDE9CA}"/>
              </a:ext>
            </a:extLst>
          </p:cNvPr>
          <p:cNvSpPr txBox="1">
            <a:spLocks/>
          </p:cNvSpPr>
          <p:nvPr/>
        </p:nvSpPr>
        <p:spPr>
          <a:xfrm>
            <a:off x="608011" y="1163263"/>
            <a:ext cx="11048999" cy="4958137"/>
          </a:xfrm>
          <a:prstGeom prst="rect">
            <a:avLst/>
          </a:prstGeom>
        </p:spPr>
        <p:txBody>
          <a:bodyPr>
            <a:norm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000" b="1" kern="0" dirty="0">
                <a:solidFill>
                  <a:sysClr val="windowText" lastClr="000000"/>
                </a:solidFill>
                <a:sym typeface="Wingdings" pitchFamily="2" charset="2"/>
              </a:rPr>
              <a:t>SCRIPTS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From 	GitHub 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Fork the repo: </a:t>
            </a: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  <a:hlinkClick r:id="rId4"/>
              </a:rPr>
              <a:t>https://github.com/cccanvas-upv/pic-upv-lab0.git</a:t>
            </a:r>
            <a:endParaRPr lang="en-US" kern="0" dirty="0">
              <a:solidFill>
                <a:sysClr val="windowText" lastClr="000000"/>
              </a:solidFill>
              <a:sym typeface="Wingdings" pitchFamily="2" charset="2"/>
            </a:endParaRP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  <a:sym typeface="Wingdings" pitchFamily="2" charset="2"/>
              </a:rPr>
              <a:t>Clone the repo using </a:t>
            </a:r>
            <a:r>
              <a:rPr lang="en-US" kern="0" dirty="0" err="1">
                <a:solidFill>
                  <a:sysClr val="windowText" lastClr="000000"/>
                </a:solidFill>
                <a:sym typeface="Wingdings" pitchFamily="2" charset="2"/>
              </a:rPr>
              <a:t>VSCode</a:t>
            </a:r>
            <a:endParaRPr lang="en-US" kern="0" dirty="0">
              <a:solidFill>
                <a:sysClr val="windowText" lastClr="000000"/>
              </a:solidFill>
              <a:sym typeface="Wingdings" pitchFamily="2" charset="2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</a:rPr>
              <a:t>Run the </a:t>
            </a:r>
            <a:r>
              <a:rPr lang="en-US" kern="0" dirty="0" err="1">
                <a:solidFill>
                  <a:sysClr val="windowText" lastClr="000000"/>
                </a:solidFill>
              </a:rPr>
              <a:t>Jupyter</a:t>
            </a:r>
            <a:r>
              <a:rPr lang="en-US" kern="0" dirty="0">
                <a:solidFill>
                  <a:sysClr val="windowText" lastClr="000000"/>
                </a:solidFill>
              </a:rPr>
              <a:t> Notebook: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kern="0" dirty="0">
                <a:solidFill>
                  <a:sysClr val="windowText" lastClr="000000"/>
                </a:solidFill>
              </a:rPr>
              <a:t>010_MODESOLVER_Student.ipynb </a:t>
            </a:r>
          </a:p>
          <a:p>
            <a:pPr algn="just"/>
            <a:r>
              <a:rPr lang="en-US" b="1" kern="0" dirty="0">
                <a:solidFill>
                  <a:sysClr val="windowText" lastClr="000000"/>
                </a:solidFill>
              </a:rPr>
              <a:t>INSTRUCTIONS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/>
              <a:t>We are going to work with different </a:t>
            </a:r>
            <a:r>
              <a:rPr lang="en-US" b="1" i="1" dirty="0"/>
              <a:t>Cross-Sections. </a:t>
            </a:r>
            <a:r>
              <a:rPr lang="en-US" dirty="0"/>
              <a:t>In general, we will need: </a:t>
            </a:r>
            <a:r>
              <a:rPr lang="en-US" b="1" i="1" dirty="0"/>
              <a:t>Materials</a:t>
            </a:r>
            <a:r>
              <a:rPr lang="en-US" dirty="0"/>
              <a:t> definitions and the </a:t>
            </a:r>
            <a:r>
              <a:rPr lang="en-US" b="1" dirty="0"/>
              <a:t>Geometrical</a:t>
            </a:r>
            <a:r>
              <a:rPr lang="en-US" dirty="0"/>
              <a:t> parameters of each Cross-section</a:t>
            </a:r>
            <a:r>
              <a:rPr lang="en-US" b="1" i="1" dirty="0"/>
              <a:t>.</a:t>
            </a:r>
          </a:p>
          <a:p>
            <a:pPr algn="just"/>
            <a:endParaRPr lang="en-US" sz="2000" b="1" i="1" dirty="0"/>
          </a:p>
          <a:p>
            <a:pPr algn="just"/>
            <a:endParaRPr lang="en-US" sz="2000" kern="0" dirty="0">
              <a:solidFill>
                <a:sysClr val="windowText" lastClr="000000"/>
              </a:solidFill>
            </a:endParaRPr>
          </a:p>
        </p:txBody>
      </p:sp>
      <p:sp>
        <p:nvSpPr>
          <p:cNvPr id="5" name="object 7">
            <a:extLst>
              <a:ext uri="{FF2B5EF4-FFF2-40B4-BE49-F238E27FC236}">
                <a16:creationId xmlns:a16="http://schemas.microsoft.com/office/drawing/2014/main" id="{B99085AB-5BCA-5571-FA65-E3617707DBFA}"/>
              </a:ext>
            </a:extLst>
          </p:cNvPr>
          <p:cNvSpPr/>
          <p:nvPr/>
        </p:nvSpPr>
        <p:spPr>
          <a:xfrm>
            <a:off x="1245115" y="4499713"/>
            <a:ext cx="544195" cy="344805"/>
          </a:xfrm>
          <a:custGeom>
            <a:avLst/>
            <a:gdLst/>
            <a:ahLst/>
            <a:cxnLst/>
            <a:rect l="l" t="t" r="r" b="b"/>
            <a:pathLst>
              <a:path w="544195" h="344805">
                <a:moveTo>
                  <a:pt x="0" y="344424"/>
                </a:moveTo>
                <a:lnTo>
                  <a:pt x="544067" y="344424"/>
                </a:lnTo>
                <a:lnTo>
                  <a:pt x="544067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solidFill>
            <a:srgbClr val="CCB6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8">
            <a:extLst>
              <a:ext uri="{FF2B5EF4-FFF2-40B4-BE49-F238E27FC236}">
                <a16:creationId xmlns:a16="http://schemas.microsoft.com/office/drawing/2014/main" id="{17590B25-6ABE-9620-2C63-B4856DDBCE5D}"/>
              </a:ext>
            </a:extLst>
          </p:cNvPr>
          <p:cNvSpPr/>
          <p:nvPr/>
        </p:nvSpPr>
        <p:spPr>
          <a:xfrm>
            <a:off x="1245115" y="4499713"/>
            <a:ext cx="544195" cy="344805"/>
          </a:xfrm>
          <a:custGeom>
            <a:avLst/>
            <a:gdLst/>
            <a:ahLst/>
            <a:cxnLst/>
            <a:rect l="l" t="t" r="r" b="b"/>
            <a:pathLst>
              <a:path w="544195" h="344805">
                <a:moveTo>
                  <a:pt x="0" y="344424"/>
                </a:moveTo>
                <a:lnTo>
                  <a:pt x="544067" y="344424"/>
                </a:lnTo>
                <a:lnTo>
                  <a:pt x="544067" y="0"/>
                </a:lnTo>
                <a:lnTo>
                  <a:pt x="0" y="0"/>
                </a:lnTo>
                <a:lnTo>
                  <a:pt x="0" y="344424"/>
                </a:lnTo>
                <a:close/>
              </a:path>
            </a:pathLst>
          </a:custGeom>
          <a:ln w="12191">
            <a:solidFill>
              <a:srgbClr val="6F60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9">
            <a:extLst>
              <a:ext uri="{FF2B5EF4-FFF2-40B4-BE49-F238E27FC236}">
                <a16:creationId xmlns:a16="http://schemas.microsoft.com/office/drawing/2014/main" id="{854026DA-C7BC-391A-30F9-BF8D7187210E}"/>
              </a:ext>
            </a:extLst>
          </p:cNvPr>
          <p:cNvSpPr/>
          <p:nvPr/>
        </p:nvSpPr>
        <p:spPr>
          <a:xfrm>
            <a:off x="1245115" y="3905354"/>
            <a:ext cx="1323340" cy="594360"/>
          </a:xfrm>
          <a:custGeom>
            <a:avLst/>
            <a:gdLst/>
            <a:ahLst/>
            <a:cxnLst/>
            <a:rect l="l" t="t" r="r" b="b"/>
            <a:pathLst>
              <a:path w="1323340" h="594360">
                <a:moveTo>
                  <a:pt x="1322832" y="0"/>
                </a:moveTo>
                <a:lnTo>
                  <a:pt x="769493" y="0"/>
                </a:lnTo>
                <a:lnTo>
                  <a:pt x="0" y="594359"/>
                </a:lnTo>
                <a:lnTo>
                  <a:pt x="553338" y="594359"/>
                </a:lnTo>
                <a:lnTo>
                  <a:pt x="1322832" y="0"/>
                </a:lnTo>
                <a:close/>
              </a:path>
            </a:pathLst>
          </a:custGeom>
          <a:solidFill>
            <a:srgbClr val="CCB6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10">
            <a:extLst>
              <a:ext uri="{FF2B5EF4-FFF2-40B4-BE49-F238E27FC236}">
                <a16:creationId xmlns:a16="http://schemas.microsoft.com/office/drawing/2014/main" id="{68F18FA1-D512-5553-8E16-C81F17B1FD4E}"/>
              </a:ext>
            </a:extLst>
          </p:cNvPr>
          <p:cNvSpPr/>
          <p:nvPr/>
        </p:nvSpPr>
        <p:spPr>
          <a:xfrm>
            <a:off x="1245115" y="3905354"/>
            <a:ext cx="1323340" cy="594360"/>
          </a:xfrm>
          <a:custGeom>
            <a:avLst/>
            <a:gdLst/>
            <a:ahLst/>
            <a:cxnLst/>
            <a:rect l="l" t="t" r="r" b="b"/>
            <a:pathLst>
              <a:path w="1323340" h="594360">
                <a:moveTo>
                  <a:pt x="0" y="594359"/>
                </a:moveTo>
                <a:lnTo>
                  <a:pt x="769493" y="0"/>
                </a:lnTo>
                <a:lnTo>
                  <a:pt x="1322832" y="0"/>
                </a:lnTo>
                <a:lnTo>
                  <a:pt x="553338" y="594359"/>
                </a:lnTo>
                <a:lnTo>
                  <a:pt x="0" y="594359"/>
                </a:lnTo>
                <a:close/>
              </a:path>
            </a:pathLst>
          </a:custGeom>
          <a:ln w="12192">
            <a:solidFill>
              <a:srgbClr val="6F60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11">
            <a:extLst>
              <a:ext uri="{FF2B5EF4-FFF2-40B4-BE49-F238E27FC236}">
                <a16:creationId xmlns:a16="http://schemas.microsoft.com/office/drawing/2014/main" id="{B6F403B3-198D-766C-7FF5-06096D396DAF}"/>
              </a:ext>
            </a:extLst>
          </p:cNvPr>
          <p:cNvSpPr/>
          <p:nvPr/>
        </p:nvSpPr>
        <p:spPr>
          <a:xfrm>
            <a:off x="1789183" y="3905354"/>
            <a:ext cx="779145" cy="939165"/>
          </a:xfrm>
          <a:custGeom>
            <a:avLst/>
            <a:gdLst/>
            <a:ahLst/>
            <a:cxnLst/>
            <a:rect l="l" t="t" r="r" b="b"/>
            <a:pathLst>
              <a:path w="779145" h="939164">
                <a:moveTo>
                  <a:pt x="778763" y="0"/>
                </a:moveTo>
                <a:lnTo>
                  <a:pt x="0" y="593343"/>
                </a:lnTo>
                <a:lnTo>
                  <a:pt x="0" y="938783"/>
                </a:lnTo>
                <a:lnTo>
                  <a:pt x="778763" y="345439"/>
                </a:lnTo>
                <a:lnTo>
                  <a:pt x="778763" y="0"/>
                </a:lnTo>
                <a:close/>
              </a:path>
            </a:pathLst>
          </a:custGeom>
          <a:solidFill>
            <a:srgbClr val="CCB6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12">
            <a:extLst>
              <a:ext uri="{FF2B5EF4-FFF2-40B4-BE49-F238E27FC236}">
                <a16:creationId xmlns:a16="http://schemas.microsoft.com/office/drawing/2014/main" id="{B4F33324-81A2-6D30-47DD-7A67FD038073}"/>
              </a:ext>
            </a:extLst>
          </p:cNvPr>
          <p:cNvSpPr/>
          <p:nvPr/>
        </p:nvSpPr>
        <p:spPr>
          <a:xfrm>
            <a:off x="1789183" y="3905354"/>
            <a:ext cx="779145" cy="939165"/>
          </a:xfrm>
          <a:custGeom>
            <a:avLst/>
            <a:gdLst/>
            <a:ahLst/>
            <a:cxnLst/>
            <a:rect l="l" t="t" r="r" b="b"/>
            <a:pathLst>
              <a:path w="779145" h="939164">
                <a:moveTo>
                  <a:pt x="778763" y="0"/>
                </a:moveTo>
                <a:lnTo>
                  <a:pt x="0" y="593343"/>
                </a:lnTo>
                <a:lnTo>
                  <a:pt x="0" y="938783"/>
                </a:lnTo>
                <a:lnTo>
                  <a:pt x="778763" y="345439"/>
                </a:lnTo>
                <a:lnTo>
                  <a:pt x="778763" y="0"/>
                </a:lnTo>
                <a:close/>
              </a:path>
            </a:pathLst>
          </a:custGeom>
          <a:ln w="12192">
            <a:solidFill>
              <a:srgbClr val="6F60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13">
            <a:extLst>
              <a:ext uri="{FF2B5EF4-FFF2-40B4-BE49-F238E27FC236}">
                <a16:creationId xmlns:a16="http://schemas.microsoft.com/office/drawing/2014/main" id="{E5CE242A-CD6F-B6AA-8CF8-3F65AA839201}"/>
              </a:ext>
            </a:extLst>
          </p:cNvPr>
          <p:cNvSpPr/>
          <p:nvPr/>
        </p:nvSpPr>
        <p:spPr>
          <a:xfrm>
            <a:off x="659898" y="4205582"/>
            <a:ext cx="1858010" cy="1065530"/>
          </a:xfrm>
          <a:custGeom>
            <a:avLst/>
            <a:gdLst/>
            <a:ahLst/>
            <a:cxnLst/>
            <a:rect l="l" t="t" r="r" b="b"/>
            <a:pathLst>
              <a:path w="1858009" h="1065530">
                <a:moveTo>
                  <a:pt x="0" y="1065276"/>
                </a:moveTo>
                <a:lnTo>
                  <a:pt x="1857755" y="1065276"/>
                </a:lnTo>
                <a:lnTo>
                  <a:pt x="1857755" y="0"/>
                </a:lnTo>
                <a:lnTo>
                  <a:pt x="0" y="0"/>
                </a:lnTo>
                <a:lnTo>
                  <a:pt x="0" y="1065276"/>
                </a:lnTo>
                <a:close/>
              </a:path>
            </a:pathLst>
          </a:custGeom>
          <a:solidFill>
            <a:srgbClr val="7E7E7E">
              <a:alpha val="3607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18">
            <a:extLst>
              <a:ext uri="{FF2B5EF4-FFF2-40B4-BE49-F238E27FC236}">
                <a16:creationId xmlns:a16="http://schemas.microsoft.com/office/drawing/2014/main" id="{E00C02E3-A945-AC3C-8DDF-4BF7E88C3196}"/>
              </a:ext>
            </a:extLst>
          </p:cNvPr>
          <p:cNvSpPr/>
          <p:nvPr/>
        </p:nvSpPr>
        <p:spPr>
          <a:xfrm>
            <a:off x="458730" y="5106266"/>
            <a:ext cx="544195" cy="342900"/>
          </a:xfrm>
          <a:custGeom>
            <a:avLst/>
            <a:gdLst/>
            <a:ahLst/>
            <a:cxnLst/>
            <a:rect l="l" t="t" r="r" b="b"/>
            <a:pathLst>
              <a:path w="544195" h="342900">
                <a:moveTo>
                  <a:pt x="0" y="342900"/>
                </a:moveTo>
                <a:lnTo>
                  <a:pt x="544068" y="342900"/>
                </a:lnTo>
                <a:lnTo>
                  <a:pt x="544068" y="0"/>
                </a:lnTo>
                <a:lnTo>
                  <a:pt x="0" y="0"/>
                </a:lnTo>
                <a:lnTo>
                  <a:pt x="0" y="342900"/>
                </a:lnTo>
                <a:close/>
              </a:path>
            </a:pathLst>
          </a:custGeom>
          <a:solidFill>
            <a:srgbClr val="CCB6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19">
            <a:extLst>
              <a:ext uri="{FF2B5EF4-FFF2-40B4-BE49-F238E27FC236}">
                <a16:creationId xmlns:a16="http://schemas.microsoft.com/office/drawing/2014/main" id="{0ED35790-2683-BB1F-331A-34862F355D64}"/>
              </a:ext>
            </a:extLst>
          </p:cNvPr>
          <p:cNvSpPr/>
          <p:nvPr/>
        </p:nvSpPr>
        <p:spPr>
          <a:xfrm>
            <a:off x="458730" y="5106266"/>
            <a:ext cx="544195" cy="342900"/>
          </a:xfrm>
          <a:custGeom>
            <a:avLst/>
            <a:gdLst/>
            <a:ahLst/>
            <a:cxnLst/>
            <a:rect l="l" t="t" r="r" b="b"/>
            <a:pathLst>
              <a:path w="544195" h="342900">
                <a:moveTo>
                  <a:pt x="0" y="342900"/>
                </a:moveTo>
                <a:lnTo>
                  <a:pt x="544068" y="342900"/>
                </a:lnTo>
                <a:lnTo>
                  <a:pt x="544068" y="0"/>
                </a:lnTo>
                <a:lnTo>
                  <a:pt x="0" y="0"/>
                </a:lnTo>
                <a:lnTo>
                  <a:pt x="0" y="342900"/>
                </a:lnTo>
                <a:close/>
              </a:path>
            </a:pathLst>
          </a:custGeom>
          <a:ln w="12192">
            <a:solidFill>
              <a:srgbClr val="6F60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20">
            <a:extLst>
              <a:ext uri="{FF2B5EF4-FFF2-40B4-BE49-F238E27FC236}">
                <a16:creationId xmlns:a16="http://schemas.microsoft.com/office/drawing/2014/main" id="{C74C0B99-9868-5B85-03B4-95E6CF78D9A3}"/>
              </a:ext>
            </a:extLst>
          </p:cNvPr>
          <p:cNvSpPr/>
          <p:nvPr/>
        </p:nvSpPr>
        <p:spPr>
          <a:xfrm>
            <a:off x="458730" y="4511906"/>
            <a:ext cx="1324610" cy="594360"/>
          </a:xfrm>
          <a:custGeom>
            <a:avLst/>
            <a:gdLst/>
            <a:ahLst/>
            <a:cxnLst/>
            <a:rect l="l" t="t" r="r" b="b"/>
            <a:pathLst>
              <a:path w="1324610" h="594360">
                <a:moveTo>
                  <a:pt x="1324356" y="0"/>
                </a:moveTo>
                <a:lnTo>
                  <a:pt x="769493" y="0"/>
                </a:lnTo>
                <a:lnTo>
                  <a:pt x="0" y="594360"/>
                </a:lnTo>
                <a:lnTo>
                  <a:pt x="554863" y="594360"/>
                </a:lnTo>
                <a:lnTo>
                  <a:pt x="1324356" y="0"/>
                </a:lnTo>
                <a:close/>
              </a:path>
            </a:pathLst>
          </a:custGeom>
          <a:solidFill>
            <a:srgbClr val="CCB6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21">
            <a:extLst>
              <a:ext uri="{FF2B5EF4-FFF2-40B4-BE49-F238E27FC236}">
                <a16:creationId xmlns:a16="http://schemas.microsoft.com/office/drawing/2014/main" id="{0D0A668E-1248-C952-0D69-9AC115F5AEBD}"/>
              </a:ext>
            </a:extLst>
          </p:cNvPr>
          <p:cNvSpPr/>
          <p:nvPr/>
        </p:nvSpPr>
        <p:spPr>
          <a:xfrm>
            <a:off x="458730" y="4511906"/>
            <a:ext cx="1324610" cy="594360"/>
          </a:xfrm>
          <a:custGeom>
            <a:avLst/>
            <a:gdLst/>
            <a:ahLst/>
            <a:cxnLst/>
            <a:rect l="l" t="t" r="r" b="b"/>
            <a:pathLst>
              <a:path w="1324610" h="594360">
                <a:moveTo>
                  <a:pt x="0" y="594360"/>
                </a:moveTo>
                <a:lnTo>
                  <a:pt x="769493" y="0"/>
                </a:lnTo>
                <a:lnTo>
                  <a:pt x="1324356" y="0"/>
                </a:lnTo>
                <a:lnTo>
                  <a:pt x="554863" y="594360"/>
                </a:lnTo>
                <a:lnTo>
                  <a:pt x="0" y="594360"/>
                </a:lnTo>
                <a:close/>
              </a:path>
            </a:pathLst>
          </a:custGeom>
          <a:ln w="12192">
            <a:solidFill>
              <a:srgbClr val="6F60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22">
            <a:extLst>
              <a:ext uri="{FF2B5EF4-FFF2-40B4-BE49-F238E27FC236}">
                <a16:creationId xmlns:a16="http://schemas.microsoft.com/office/drawing/2014/main" id="{9D87B857-066A-6AC9-C60A-5A69ADC38AAB}"/>
              </a:ext>
            </a:extLst>
          </p:cNvPr>
          <p:cNvSpPr/>
          <p:nvPr/>
        </p:nvSpPr>
        <p:spPr>
          <a:xfrm>
            <a:off x="1002798" y="4511906"/>
            <a:ext cx="780415" cy="937260"/>
          </a:xfrm>
          <a:custGeom>
            <a:avLst/>
            <a:gdLst/>
            <a:ahLst/>
            <a:cxnLst/>
            <a:rect l="l" t="t" r="r" b="b"/>
            <a:pathLst>
              <a:path w="780414" h="937260">
                <a:moveTo>
                  <a:pt x="780288" y="0"/>
                </a:moveTo>
                <a:lnTo>
                  <a:pt x="0" y="594613"/>
                </a:lnTo>
                <a:lnTo>
                  <a:pt x="0" y="937260"/>
                </a:lnTo>
                <a:lnTo>
                  <a:pt x="780288" y="342645"/>
                </a:lnTo>
                <a:lnTo>
                  <a:pt x="780288" y="0"/>
                </a:lnTo>
                <a:close/>
              </a:path>
            </a:pathLst>
          </a:custGeom>
          <a:solidFill>
            <a:srgbClr val="CCB6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23">
            <a:extLst>
              <a:ext uri="{FF2B5EF4-FFF2-40B4-BE49-F238E27FC236}">
                <a16:creationId xmlns:a16="http://schemas.microsoft.com/office/drawing/2014/main" id="{218D47D4-6432-730D-48B9-7A6C6E31E473}"/>
              </a:ext>
            </a:extLst>
          </p:cNvPr>
          <p:cNvSpPr/>
          <p:nvPr/>
        </p:nvSpPr>
        <p:spPr>
          <a:xfrm>
            <a:off x="1002798" y="4511906"/>
            <a:ext cx="780415" cy="937260"/>
          </a:xfrm>
          <a:custGeom>
            <a:avLst/>
            <a:gdLst/>
            <a:ahLst/>
            <a:cxnLst/>
            <a:rect l="l" t="t" r="r" b="b"/>
            <a:pathLst>
              <a:path w="780414" h="937260">
                <a:moveTo>
                  <a:pt x="780288" y="0"/>
                </a:moveTo>
                <a:lnTo>
                  <a:pt x="0" y="594613"/>
                </a:lnTo>
                <a:lnTo>
                  <a:pt x="0" y="937260"/>
                </a:lnTo>
                <a:lnTo>
                  <a:pt x="780288" y="342645"/>
                </a:lnTo>
                <a:lnTo>
                  <a:pt x="780288" y="0"/>
                </a:lnTo>
                <a:close/>
              </a:path>
            </a:pathLst>
          </a:custGeom>
          <a:ln w="12192">
            <a:solidFill>
              <a:srgbClr val="6F602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33">
            <a:extLst>
              <a:ext uri="{FF2B5EF4-FFF2-40B4-BE49-F238E27FC236}">
                <a16:creationId xmlns:a16="http://schemas.microsoft.com/office/drawing/2014/main" id="{1ADEEC13-CD1C-B10C-519D-C80EDB6B6995}"/>
              </a:ext>
            </a:extLst>
          </p:cNvPr>
          <p:cNvSpPr txBox="1"/>
          <p:nvPr/>
        </p:nvSpPr>
        <p:spPr>
          <a:xfrm>
            <a:off x="1438790" y="5254855"/>
            <a:ext cx="10661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Calibri"/>
                <a:cs typeface="Calibri"/>
              </a:rPr>
              <a:t>XY</a:t>
            </a:r>
            <a:r>
              <a:rPr sz="1200" b="1" spc="-35" dirty="0">
                <a:latin typeface="Calibri"/>
                <a:cs typeface="Calibri"/>
              </a:rPr>
              <a:t> </a:t>
            </a:r>
            <a:r>
              <a:rPr sz="1200" b="1" spc="-5" dirty="0">
                <a:latin typeface="Calibri"/>
                <a:cs typeface="Calibri"/>
              </a:rPr>
              <a:t>Cross-section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6" name="object 7">
            <a:extLst>
              <a:ext uri="{FF2B5EF4-FFF2-40B4-BE49-F238E27FC236}">
                <a16:creationId xmlns:a16="http://schemas.microsoft.com/office/drawing/2014/main" id="{BB459788-0671-D4BA-B6DB-A3544D24EA92}"/>
              </a:ext>
            </a:extLst>
          </p:cNvPr>
          <p:cNvSpPr/>
          <p:nvPr/>
        </p:nvSpPr>
        <p:spPr>
          <a:xfrm>
            <a:off x="3213753" y="3715837"/>
            <a:ext cx="3929379" cy="1902460"/>
          </a:xfrm>
          <a:custGeom>
            <a:avLst/>
            <a:gdLst/>
            <a:ahLst/>
            <a:cxnLst/>
            <a:rect l="l" t="t" r="r" b="b"/>
            <a:pathLst>
              <a:path w="3929379" h="1902460">
                <a:moveTo>
                  <a:pt x="0" y="1901952"/>
                </a:moveTo>
                <a:lnTo>
                  <a:pt x="3928872" y="1901952"/>
                </a:lnTo>
                <a:lnTo>
                  <a:pt x="3928872" y="0"/>
                </a:lnTo>
                <a:lnTo>
                  <a:pt x="0" y="0"/>
                </a:lnTo>
                <a:lnTo>
                  <a:pt x="0" y="1901952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62">
            <a:extLst>
              <a:ext uri="{FF2B5EF4-FFF2-40B4-BE49-F238E27FC236}">
                <a16:creationId xmlns:a16="http://schemas.microsoft.com/office/drawing/2014/main" id="{13E0425E-CEDF-CBC4-B34B-0CC3951920EA}"/>
              </a:ext>
            </a:extLst>
          </p:cNvPr>
          <p:cNvSpPr/>
          <p:nvPr/>
        </p:nvSpPr>
        <p:spPr>
          <a:xfrm>
            <a:off x="4058049" y="4276669"/>
            <a:ext cx="76200" cy="986155"/>
          </a:xfrm>
          <a:custGeom>
            <a:avLst/>
            <a:gdLst/>
            <a:ahLst/>
            <a:cxnLst/>
            <a:rect l="l" t="t" r="r" b="b"/>
            <a:pathLst>
              <a:path w="76200" h="986155">
                <a:moveTo>
                  <a:pt x="31750" y="909827"/>
                </a:moveTo>
                <a:lnTo>
                  <a:pt x="0" y="909827"/>
                </a:lnTo>
                <a:lnTo>
                  <a:pt x="38100" y="986027"/>
                </a:lnTo>
                <a:lnTo>
                  <a:pt x="69850" y="922527"/>
                </a:lnTo>
                <a:lnTo>
                  <a:pt x="31750" y="922527"/>
                </a:lnTo>
                <a:lnTo>
                  <a:pt x="31750" y="909827"/>
                </a:lnTo>
                <a:close/>
              </a:path>
              <a:path w="76200" h="986155">
                <a:moveTo>
                  <a:pt x="44450" y="63500"/>
                </a:moveTo>
                <a:lnTo>
                  <a:pt x="31750" y="63500"/>
                </a:lnTo>
                <a:lnTo>
                  <a:pt x="31750" y="922527"/>
                </a:lnTo>
                <a:lnTo>
                  <a:pt x="44450" y="922527"/>
                </a:lnTo>
                <a:lnTo>
                  <a:pt x="44450" y="63500"/>
                </a:lnTo>
                <a:close/>
              </a:path>
              <a:path w="76200" h="986155">
                <a:moveTo>
                  <a:pt x="76200" y="909827"/>
                </a:moveTo>
                <a:lnTo>
                  <a:pt x="44450" y="909827"/>
                </a:lnTo>
                <a:lnTo>
                  <a:pt x="44450" y="922527"/>
                </a:lnTo>
                <a:lnTo>
                  <a:pt x="69850" y="922527"/>
                </a:lnTo>
                <a:lnTo>
                  <a:pt x="76200" y="909827"/>
                </a:lnTo>
                <a:close/>
              </a:path>
              <a:path w="76200" h="986155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986155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63">
            <a:extLst>
              <a:ext uri="{FF2B5EF4-FFF2-40B4-BE49-F238E27FC236}">
                <a16:creationId xmlns:a16="http://schemas.microsoft.com/office/drawing/2014/main" id="{FDE45797-C0E3-ACE0-F66B-057BDEDB9070}"/>
              </a:ext>
            </a:extLst>
          </p:cNvPr>
          <p:cNvSpPr txBox="1"/>
          <p:nvPr/>
        </p:nvSpPr>
        <p:spPr>
          <a:xfrm>
            <a:off x="3402119" y="4503822"/>
            <a:ext cx="577850" cy="4540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175" algn="ctr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Calibri"/>
                <a:cs typeface="Calibri"/>
              </a:rPr>
              <a:t>h</a:t>
            </a:r>
            <a:endParaRPr sz="1400">
              <a:latin typeface="Calibri"/>
              <a:cs typeface="Calibri"/>
            </a:endParaRPr>
          </a:p>
          <a:p>
            <a:pPr marR="5080" algn="ctr">
              <a:lnSpc>
                <a:spcPct val="100000"/>
              </a:lnSpc>
              <a:spcBef>
                <a:spcPts val="5"/>
              </a:spcBef>
            </a:pPr>
            <a:r>
              <a:rPr sz="1400" spc="-10" dirty="0">
                <a:latin typeface="Calibri"/>
                <a:cs typeface="Calibri"/>
              </a:rPr>
              <a:t>(h</a:t>
            </a:r>
            <a:r>
              <a:rPr sz="1400" dirty="0">
                <a:latin typeface="Calibri"/>
                <a:cs typeface="Calibri"/>
              </a:rPr>
              <a:t>eig</a:t>
            </a:r>
            <a:r>
              <a:rPr sz="1400" spc="-25" dirty="0">
                <a:latin typeface="Calibri"/>
                <a:cs typeface="Calibri"/>
              </a:rPr>
              <a:t>h</a:t>
            </a:r>
            <a:r>
              <a:rPr sz="1400" spc="-5" dirty="0">
                <a:latin typeface="Calibri"/>
                <a:cs typeface="Calibri"/>
              </a:rPr>
              <a:t>t</a:t>
            </a:r>
            <a:r>
              <a:rPr sz="1400" dirty="0">
                <a:latin typeface="Calibri"/>
                <a:cs typeface="Calibri"/>
              </a:rPr>
              <a:t>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99" name="object 64">
            <a:extLst>
              <a:ext uri="{FF2B5EF4-FFF2-40B4-BE49-F238E27FC236}">
                <a16:creationId xmlns:a16="http://schemas.microsoft.com/office/drawing/2014/main" id="{ABAAA5DD-56CA-BF94-2180-F0866658B6B3}"/>
              </a:ext>
            </a:extLst>
          </p:cNvPr>
          <p:cNvSpPr/>
          <p:nvPr/>
        </p:nvSpPr>
        <p:spPr>
          <a:xfrm>
            <a:off x="4295793" y="4066357"/>
            <a:ext cx="1758314" cy="76200"/>
          </a:xfrm>
          <a:custGeom>
            <a:avLst/>
            <a:gdLst/>
            <a:ahLst/>
            <a:cxnLst/>
            <a:rect l="l" t="t" r="r" b="b"/>
            <a:pathLst>
              <a:path w="1758314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1758314" h="76200">
                <a:moveTo>
                  <a:pt x="1682114" y="0"/>
                </a:moveTo>
                <a:lnTo>
                  <a:pt x="1682114" y="76200"/>
                </a:lnTo>
                <a:lnTo>
                  <a:pt x="1745614" y="44450"/>
                </a:lnTo>
                <a:lnTo>
                  <a:pt x="1694814" y="44450"/>
                </a:lnTo>
                <a:lnTo>
                  <a:pt x="1694814" y="31750"/>
                </a:lnTo>
                <a:lnTo>
                  <a:pt x="1745614" y="31750"/>
                </a:lnTo>
                <a:lnTo>
                  <a:pt x="1682114" y="0"/>
                </a:lnTo>
                <a:close/>
              </a:path>
              <a:path w="1758314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1758314" h="76200">
                <a:moveTo>
                  <a:pt x="1682114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1682114" y="44450"/>
                </a:lnTo>
                <a:lnTo>
                  <a:pt x="1682114" y="31750"/>
                </a:lnTo>
                <a:close/>
              </a:path>
              <a:path w="1758314" h="76200">
                <a:moveTo>
                  <a:pt x="1745614" y="31750"/>
                </a:moveTo>
                <a:lnTo>
                  <a:pt x="1694814" y="31750"/>
                </a:lnTo>
                <a:lnTo>
                  <a:pt x="1694814" y="44450"/>
                </a:lnTo>
                <a:lnTo>
                  <a:pt x="1745614" y="44450"/>
                </a:lnTo>
                <a:lnTo>
                  <a:pt x="1758314" y="38100"/>
                </a:lnTo>
                <a:lnTo>
                  <a:pt x="1745614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65">
            <a:extLst>
              <a:ext uri="{FF2B5EF4-FFF2-40B4-BE49-F238E27FC236}">
                <a16:creationId xmlns:a16="http://schemas.microsoft.com/office/drawing/2014/main" id="{A1EF013C-5123-D9A7-DC76-FEFD731E96E2}"/>
              </a:ext>
            </a:extLst>
          </p:cNvPr>
          <p:cNvSpPr txBox="1"/>
          <p:nvPr/>
        </p:nvSpPr>
        <p:spPr>
          <a:xfrm>
            <a:off x="4815731" y="3825642"/>
            <a:ext cx="73342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400" spc="5" dirty="0">
                <a:latin typeface="Calibri"/>
                <a:cs typeface="Calibri"/>
              </a:rPr>
              <a:t>W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(width)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01" name="object 73">
            <a:extLst>
              <a:ext uri="{FF2B5EF4-FFF2-40B4-BE49-F238E27FC236}">
                <a16:creationId xmlns:a16="http://schemas.microsoft.com/office/drawing/2014/main" id="{4C5C0871-D9B5-E642-7661-FFBCAD75720B}"/>
              </a:ext>
            </a:extLst>
          </p:cNvPr>
          <p:cNvSpPr txBox="1"/>
          <p:nvPr/>
        </p:nvSpPr>
        <p:spPr>
          <a:xfrm>
            <a:off x="4295793" y="4276669"/>
            <a:ext cx="1758950" cy="986155"/>
          </a:xfrm>
          <a:prstGeom prst="rect">
            <a:avLst/>
          </a:prstGeom>
          <a:solidFill>
            <a:srgbClr val="CCB657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2350" dirty="0">
              <a:latin typeface="Times New Roman"/>
              <a:cs typeface="Times New Roman"/>
            </a:endParaRPr>
          </a:p>
          <a:p>
            <a:pPr marL="18415" algn="ctr">
              <a:lnSpc>
                <a:spcPct val="100000"/>
              </a:lnSpc>
            </a:pPr>
            <a:r>
              <a:rPr sz="1600" b="1" spc="-10" dirty="0">
                <a:latin typeface="Calibri"/>
                <a:cs typeface="Calibri"/>
              </a:rPr>
              <a:t>Core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02" name="object 74">
            <a:extLst>
              <a:ext uri="{FF2B5EF4-FFF2-40B4-BE49-F238E27FC236}">
                <a16:creationId xmlns:a16="http://schemas.microsoft.com/office/drawing/2014/main" id="{10CC4DBA-05F4-4CDC-BA0E-6200AF622CA9}"/>
              </a:ext>
            </a:extLst>
          </p:cNvPr>
          <p:cNvSpPr txBox="1"/>
          <p:nvPr/>
        </p:nvSpPr>
        <p:spPr>
          <a:xfrm>
            <a:off x="6294976" y="4631165"/>
            <a:ext cx="7410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Calibri"/>
                <a:cs typeface="Calibri"/>
              </a:rPr>
              <a:t>Cladding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03" name="Flecha: a la derecha 102">
            <a:extLst>
              <a:ext uri="{FF2B5EF4-FFF2-40B4-BE49-F238E27FC236}">
                <a16:creationId xmlns:a16="http://schemas.microsoft.com/office/drawing/2014/main" id="{9104F8E7-45F4-CD32-78F2-E3303B105AF2}"/>
              </a:ext>
            </a:extLst>
          </p:cNvPr>
          <p:cNvSpPr/>
          <p:nvPr/>
        </p:nvSpPr>
        <p:spPr>
          <a:xfrm>
            <a:off x="2652837" y="4587205"/>
            <a:ext cx="390281" cy="177451"/>
          </a:xfrm>
          <a:prstGeom prst="rightArrow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1" name="object 7">
            <a:extLst>
              <a:ext uri="{FF2B5EF4-FFF2-40B4-BE49-F238E27FC236}">
                <a16:creationId xmlns:a16="http://schemas.microsoft.com/office/drawing/2014/main" id="{06801468-6F27-A16A-64E3-D7AD4B6B6B96}"/>
              </a:ext>
            </a:extLst>
          </p:cNvPr>
          <p:cNvSpPr/>
          <p:nvPr/>
        </p:nvSpPr>
        <p:spPr>
          <a:xfrm>
            <a:off x="7749273" y="3715837"/>
            <a:ext cx="3929379" cy="1902460"/>
          </a:xfrm>
          <a:custGeom>
            <a:avLst/>
            <a:gdLst/>
            <a:ahLst/>
            <a:cxnLst/>
            <a:rect l="l" t="t" r="r" b="b"/>
            <a:pathLst>
              <a:path w="3929379" h="1902460">
                <a:moveTo>
                  <a:pt x="0" y="1901952"/>
                </a:moveTo>
                <a:lnTo>
                  <a:pt x="3928872" y="1901952"/>
                </a:lnTo>
                <a:lnTo>
                  <a:pt x="3928872" y="0"/>
                </a:lnTo>
                <a:lnTo>
                  <a:pt x="0" y="0"/>
                </a:lnTo>
                <a:lnTo>
                  <a:pt x="0" y="1901952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64">
            <a:extLst>
              <a:ext uri="{FF2B5EF4-FFF2-40B4-BE49-F238E27FC236}">
                <a16:creationId xmlns:a16="http://schemas.microsoft.com/office/drawing/2014/main" id="{D9E5D738-CA47-1898-E0D8-DFBC514F5A50}"/>
              </a:ext>
            </a:extLst>
          </p:cNvPr>
          <p:cNvSpPr/>
          <p:nvPr/>
        </p:nvSpPr>
        <p:spPr>
          <a:xfrm>
            <a:off x="8831313" y="4066357"/>
            <a:ext cx="1758314" cy="76200"/>
          </a:xfrm>
          <a:custGeom>
            <a:avLst/>
            <a:gdLst/>
            <a:ahLst/>
            <a:cxnLst/>
            <a:rect l="l" t="t" r="r" b="b"/>
            <a:pathLst>
              <a:path w="1758314" h="76200">
                <a:moveTo>
                  <a:pt x="76200" y="0"/>
                </a:moveTo>
                <a:lnTo>
                  <a:pt x="0" y="38100"/>
                </a:lnTo>
                <a:lnTo>
                  <a:pt x="76200" y="76200"/>
                </a:lnTo>
                <a:lnTo>
                  <a:pt x="76200" y="44450"/>
                </a:lnTo>
                <a:lnTo>
                  <a:pt x="63500" y="44450"/>
                </a:lnTo>
                <a:lnTo>
                  <a:pt x="63500" y="31750"/>
                </a:lnTo>
                <a:lnTo>
                  <a:pt x="76200" y="31750"/>
                </a:lnTo>
                <a:lnTo>
                  <a:pt x="76200" y="0"/>
                </a:lnTo>
                <a:close/>
              </a:path>
              <a:path w="1758314" h="76200">
                <a:moveTo>
                  <a:pt x="1682114" y="0"/>
                </a:moveTo>
                <a:lnTo>
                  <a:pt x="1682114" y="76200"/>
                </a:lnTo>
                <a:lnTo>
                  <a:pt x="1745614" y="44450"/>
                </a:lnTo>
                <a:lnTo>
                  <a:pt x="1694814" y="44450"/>
                </a:lnTo>
                <a:lnTo>
                  <a:pt x="1694814" y="31750"/>
                </a:lnTo>
                <a:lnTo>
                  <a:pt x="1745614" y="31750"/>
                </a:lnTo>
                <a:lnTo>
                  <a:pt x="1682114" y="0"/>
                </a:lnTo>
                <a:close/>
              </a:path>
              <a:path w="1758314" h="76200">
                <a:moveTo>
                  <a:pt x="76200" y="31750"/>
                </a:moveTo>
                <a:lnTo>
                  <a:pt x="63500" y="31750"/>
                </a:lnTo>
                <a:lnTo>
                  <a:pt x="63500" y="44450"/>
                </a:lnTo>
                <a:lnTo>
                  <a:pt x="76200" y="44450"/>
                </a:lnTo>
                <a:lnTo>
                  <a:pt x="76200" y="31750"/>
                </a:lnTo>
                <a:close/>
              </a:path>
              <a:path w="1758314" h="76200">
                <a:moveTo>
                  <a:pt x="1682114" y="31750"/>
                </a:moveTo>
                <a:lnTo>
                  <a:pt x="76200" y="31750"/>
                </a:lnTo>
                <a:lnTo>
                  <a:pt x="76200" y="44450"/>
                </a:lnTo>
                <a:lnTo>
                  <a:pt x="1682114" y="44450"/>
                </a:lnTo>
                <a:lnTo>
                  <a:pt x="1682114" y="31750"/>
                </a:lnTo>
                <a:close/>
              </a:path>
              <a:path w="1758314" h="76200">
                <a:moveTo>
                  <a:pt x="1745614" y="31750"/>
                </a:moveTo>
                <a:lnTo>
                  <a:pt x="1694814" y="31750"/>
                </a:lnTo>
                <a:lnTo>
                  <a:pt x="1694814" y="44450"/>
                </a:lnTo>
                <a:lnTo>
                  <a:pt x="1745614" y="44450"/>
                </a:lnTo>
                <a:lnTo>
                  <a:pt x="1758314" y="38100"/>
                </a:lnTo>
                <a:lnTo>
                  <a:pt x="1745614" y="317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65">
            <a:extLst>
              <a:ext uri="{FF2B5EF4-FFF2-40B4-BE49-F238E27FC236}">
                <a16:creationId xmlns:a16="http://schemas.microsoft.com/office/drawing/2014/main" id="{74A4CAE1-BC33-1BCD-6F24-54F1DFA8AEDB}"/>
              </a:ext>
            </a:extLst>
          </p:cNvPr>
          <p:cNvSpPr txBox="1"/>
          <p:nvPr/>
        </p:nvSpPr>
        <p:spPr>
          <a:xfrm>
            <a:off x="9351251" y="3825642"/>
            <a:ext cx="73342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400" spc="5" dirty="0">
                <a:latin typeface="Calibri"/>
                <a:cs typeface="Calibri"/>
              </a:rPr>
              <a:t>W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(width)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16" name="object 73">
            <a:extLst>
              <a:ext uri="{FF2B5EF4-FFF2-40B4-BE49-F238E27FC236}">
                <a16:creationId xmlns:a16="http://schemas.microsoft.com/office/drawing/2014/main" id="{CC9D2269-0CA8-143F-4E45-F3AF594A2ED3}"/>
              </a:ext>
            </a:extLst>
          </p:cNvPr>
          <p:cNvSpPr txBox="1"/>
          <p:nvPr/>
        </p:nvSpPr>
        <p:spPr>
          <a:xfrm>
            <a:off x="8831313" y="4276669"/>
            <a:ext cx="1758950" cy="986155"/>
          </a:xfrm>
          <a:prstGeom prst="rect">
            <a:avLst/>
          </a:prstGeom>
          <a:solidFill>
            <a:srgbClr val="CCB657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2350" dirty="0">
              <a:latin typeface="Times New Roman"/>
              <a:cs typeface="Times New Roman"/>
            </a:endParaRPr>
          </a:p>
          <a:p>
            <a:pPr marL="18415" algn="ctr">
              <a:lnSpc>
                <a:spcPct val="100000"/>
              </a:lnSpc>
            </a:pPr>
            <a:r>
              <a:rPr sz="1600" b="1" spc="-10" dirty="0">
                <a:latin typeface="Calibri"/>
                <a:cs typeface="Calibri"/>
              </a:rPr>
              <a:t>Core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17" name="object 74">
            <a:extLst>
              <a:ext uri="{FF2B5EF4-FFF2-40B4-BE49-F238E27FC236}">
                <a16:creationId xmlns:a16="http://schemas.microsoft.com/office/drawing/2014/main" id="{8A3332FF-25D4-1955-323F-BBD1D30324AC}"/>
              </a:ext>
            </a:extLst>
          </p:cNvPr>
          <p:cNvSpPr txBox="1"/>
          <p:nvPr/>
        </p:nvSpPr>
        <p:spPr>
          <a:xfrm>
            <a:off x="10830496" y="4631165"/>
            <a:ext cx="7410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latin typeface="Calibri"/>
                <a:cs typeface="Calibri"/>
              </a:rPr>
              <a:t>Cladding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20" name="object 73">
            <a:extLst>
              <a:ext uri="{FF2B5EF4-FFF2-40B4-BE49-F238E27FC236}">
                <a16:creationId xmlns:a16="http://schemas.microsoft.com/office/drawing/2014/main" id="{C699977C-9138-F9B9-E43D-0CCB01AEB75F}"/>
              </a:ext>
            </a:extLst>
          </p:cNvPr>
          <p:cNvSpPr txBox="1"/>
          <p:nvPr/>
        </p:nvSpPr>
        <p:spPr>
          <a:xfrm>
            <a:off x="7749273" y="4983731"/>
            <a:ext cx="3906179" cy="610424"/>
          </a:xfrm>
          <a:prstGeom prst="rect">
            <a:avLst/>
          </a:prstGeom>
          <a:solidFill>
            <a:srgbClr val="CCB657"/>
          </a:solidFill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lang="es-ES" sz="2350" dirty="0">
              <a:latin typeface="Times New Roman"/>
              <a:cs typeface="Times New Roman"/>
            </a:endParaRPr>
          </a:p>
          <a:p>
            <a:pPr marL="18415">
              <a:lnSpc>
                <a:spcPct val="100000"/>
              </a:lnSpc>
            </a:pPr>
            <a:r>
              <a:rPr lang="es-ES" sz="1600" b="1" spc="-10" dirty="0" err="1">
                <a:latin typeface="Calibri"/>
                <a:cs typeface="Calibri"/>
              </a:rPr>
              <a:t>Slab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12" name="object 62">
            <a:extLst>
              <a:ext uri="{FF2B5EF4-FFF2-40B4-BE49-F238E27FC236}">
                <a16:creationId xmlns:a16="http://schemas.microsoft.com/office/drawing/2014/main" id="{04561701-4B4F-F208-98F6-2DAB5C1138D3}"/>
              </a:ext>
            </a:extLst>
          </p:cNvPr>
          <p:cNvSpPr/>
          <p:nvPr/>
        </p:nvSpPr>
        <p:spPr>
          <a:xfrm>
            <a:off x="8933783" y="4287133"/>
            <a:ext cx="56259" cy="694989"/>
          </a:xfrm>
          <a:custGeom>
            <a:avLst/>
            <a:gdLst/>
            <a:ahLst/>
            <a:cxnLst/>
            <a:rect l="l" t="t" r="r" b="b"/>
            <a:pathLst>
              <a:path w="76200" h="986155">
                <a:moveTo>
                  <a:pt x="31750" y="909827"/>
                </a:moveTo>
                <a:lnTo>
                  <a:pt x="0" y="909827"/>
                </a:lnTo>
                <a:lnTo>
                  <a:pt x="38100" y="986027"/>
                </a:lnTo>
                <a:lnTo>
                  <a:pt x="69850" y="922527"/>
                </a:lnTo>
                <a:lnTo>
                  <a:pt x="31750" y="922527"/>
                </a:lnTo>
                <a:lnTo>
                  <a:pt x="31750" y="909827"/>
                </a:lnTo>
                <a:close/>
              </a:path>
              <a:path w="76200" h="986155">
                <a:moveTo>
                  <a:pt x="44450" y="63500"/>
                </a:moveTo>
                <a:lnTo>
                  <a:pt x="31750" y="63500"/>
                </a:lnTo>
                <a:lnTo>
                  <a:pt x="31750" y="922527"/>
                </a:lnTo>
                <a:lnTo>
                  <a:pt x="44450" y="922527"/>
                </a:lnTo>
                <a:lnTo>
                  <a:pt x="44450" y="63500"/>
                </a:lnTo>
                <a:close/>
              </a:path>
              <a:path w="76200" h="986155">
                <a:moveTo>
                  <a:pt x="76200" y="909827"/>
                </a:moveTo>
                <a:lnTo>
                  <a:pt x="44450" y="909827"/>
                </a:lnTo>
                <a:lnTo>
                  <a:pt x="44450" y="922527"/>
                </a:lnTo>
                <a:lnTo>
                  <a:pt x="69850" y="922527"/>
                </a:lnTo>
                <a:lnTo>
                  <a:pt x="76200" y="909827"/>
                </a:lnTo>
                <a:close/>
              </a:path>
              <a:path w="76200" h="986155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986155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62">
            <a:extLst>
              <a:ext uri="{FF2B5EF4-FFF2-40B4-BE49-F238E27FC236}">
                <a16:creationId xmlns:a16="http://schemas.microsoft.com/office/drawing/2014/main" id="{CCA3B0D6-0C9E-B4A6-FA43-1AB5F1821674}"/>
              </a:ext>
            </a:extLst>
          </p:cNvPr>
          <p:cNvSpPr/>
          <p:nvPr/>
        </p:nvSpPr>
        <p:spPr>
          <a:xfrm>
            <a:off x="8591080" y="4982122"/>
            <a:ext cx="55008" cy="613272"/>
          </a:xfrm>
          <a:custGeom>
            <a:avLst/>
            <a:gdLst/>
            <a:ahLst/>
            <a:cxnLst/>
            <a:rect l="l" t="t" r="r" b="b"/>
            <a:pathLst>
              <a:path w="76200" h="986155">
                <a:moveTo>
                  <a:pt x="31750" y="909827"/>
                </a:moveTo>
                <a:lnTo>
                  <a:pt x="0" y="909827"/>
                </a:lnTo>
                <a:lnTo>
                  <a:pt x="38100" y="986027"/>
                </a:lnTo>
                <a:lnTo>
                  <a:pt x="69850" y="922527"/>
                </a:lnTo>
                <a:lnTo>
                  <a:pt x="31750" y="922527"/>
                </a:lnTo>
                <a:lnTo>
                  <a:pt x="31750" y="909827"/>
                </a:lnTo>
                <a:close/>
              </a:path>
              <a:path w="76200" h="986155">
                <a:moveTo>
                  <a:pt x="44450" y="63500"/>
                </a:moveTo>
                <a:lnTo>
                  <a:pt x="31750" y="63500"/>
                </a:lnTo>
                <a:lnTo>
                  <a:pt x="31750" y="922527"/>
                </a:lnTo>
                <a:lnTo>
                  <a:pt x="44450" y="922527"/>
                </a:lnTo>
                <a:lnTo>
                  <a:pt x="44450" y="63500"/>
                </a:lnTo>
                <a:close/>
              </a:path>
              <a:path w="76200" h="986155">
                <a:moveTo>
                  <a:pt x="76200" y="909827"/>
                </a:moveTo>
                <a:lnTo>
                  <a:pt x="44450" y="909827"/>
                </a:lnTo>
                <a:lnTo>
                  <a:pt x="44450" y="922527"/>
                </a:lnTo>
                <a:lnTo>
                  <a:pt x="69850" y="922527"/>
                </a:lnTo>
                <a:lnTo>
                  <a:pt x="76200" y="909827"/>
                </a:lnTo>
                <a:close/>
              </a:path>
              <a:path w="76200" h="986155">
                <a:moveTo>
                  <a:pt x="38100" y="0"/>
                </a:moveTo>
                <a:lnTo>
                  <a:pt x="0" y="76200"/>
                </a:lnTo>
                <a:lnTo>
                  <a:pt x="31750" y="76200"/>
                </a:lnTo>
                <a:lnTo>
                  <a:pt x="31750" y="63500"/>
                </a:lnTo>
                <a:lnTo>
                  <a:pt x="69850" y="63500"/>
                </a:lnTo>
                <a:lnTo>
                  <a:pt x="38100" y="0"/>
                </a:lnTo>
                <a:close/>
              </a:path>
              <a:path w="76200" h="986155">
                <a:moveTo>
                  <a:pt x="69850" y="63500"/>
                </a:moveTo>
                <a:lnTo>
                  <a:pt x="44450" y="63500"/>
                </a:lnTo>
                <a:lnTo>
                  <a:pt x="44450" y="76200"/>
                </a:lnTo>
                <a:lnTo>
                  <a:pt x="76200" y="76200"/>
                </a:lnTo>
                <a:lnTo>
                  <a:pt x="69850" y="635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63">
            <a:extLst>
              <a:ext uri="{FF2B5EF4-FFF2-40B4-BE49-F238E27FC236}">
                <a16:creationId xmlns:a16="http://schemas.microsoft.com/office/drawing/2014/main" id="{6394166D-0522-24AD-E666-39FE8A3FDC24}"/>
              </a:ext>
            </a:extLst>
          </p:cNvPr>
          <p:cNvSpPr txBox="1"/>
          <p:nvPr/>
        </p:nvSpPr>
        <p:spPr>
          <a:xfrm>
            <a:off x="8709867" y="5180039"/>
            <a:ext cx="674053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175">
              <a:lnSpc>
                <a:spcPct val="100000"/>
              </a:lnSpc>
              <a:spcBef>
                <a:spcPts val="105"/>
              </a:spcBef>
            </a:pPr>
            <a:r>
              <a:rPr lang="es-ES" sz="1400" dirty="0" err="1">
                <a:latin typeface="Calibri"/>
                <a:cs typeface="Calibri"/>
              </a:rPr>
              <a:t>h_slab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22" name="object 63">
            <a:extLst>
              <a:ext uri="{FF2B5EF4-FFF2-40B4-BE49-F238E27FC236}">
                <a16:creationId xmlns:a16="http://schemas.microsoft.com/office/drawing/2014/main" id="{B589EB7D-B26E-4239-A5C2-F96DBBE82162}"/>
              </a:ext>
            </a:extLst>
          </p:cNvPr>
          <p:cNvSpPr txBox="1"/>
          <p:nvPr/>
        </p:nvSpPr>
        <p:spPr>
          <a:xfrm>
            <a:off x="9064251" y="4282997"/>
            <a:ext cx="1380175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3175">
              <a:lnSpc>
                <a:spcPct val="100000"/>
              </a:lnSpc>
              <a:spcBef>
                <a:spcPts val="105"/>
              </a:spcBef>
            </a:pPr>
            <a:r>
              <a:rPr lang="es-ES" sz="1400" spc="-10" dirty="0" err="1">
                <a:latin typeface="Calibri"/>
                <a:cs typeface="Calibri"/>
              </a:rPr>
              <a:t>h_core</a:t>
            </a:r>
            <a:r>
              <a:rPr lang="es-ES" sz="1400" spc="-10" dirty="0">
                <a:latin typeface="Calibri"/>
                <a:cs typeface="Calibri"/>
              </a:rPr>
              <a:t> 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7D9AFBE-EF33-9078-9CE3-5C8B079B0C36}"/>
              </a:ext>
            </a:extLst>
          </p:cNvPr>
          <p:cNvSpPr txBox="1"/>
          <p:nvPr/>
        </p:nvSpPr>
        <p:spPr>
          <a:xfrm>
            <a:off x="9664364" y="5549983"/>
            <a:ext cx="19805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shallow</a:t>
            </a:r>
            <a:r>
              <a:rPr lang="en-US" dirty="0"/>
              <a:t> waveguide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336B5D8-2D70-3E7A-336D-AF55EC49DEB8}"/>
              </a:ext>
            </a:extLst>
          </p:cNvPr>
          <p:cNvSpPr txBox="1"/>
          <p:nvPr/>
        </p:nvSpPr>
        <p:spPr>
          <a:xfrm>
            <a:off x="5280887" y="5549983"/>
            <a:ext cx="215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deep</a:t>
            </a:r>
            <a:r>
              <a:rPr lang="en-US" dirty="0"/>
              <a:t> waveguide</a:t>
            </a:r>
          </a:p>
        </p:txBody>
      </p:sp>
    </p:spTree>
    <p:extLst>
      <p:ext uri="{BB962C8B-B14F-4D97-AF65-F5344CB8AC3E}">
        <p14:creationId xmlns:p14="http://schemas.microsoft.com/office/powerpoint/2010/main" val="560234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0DA9C-35AF-A1D7-01E5-BFD9DEF15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471E1424-6C4B-2D9A-1352-30AFB987AD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82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#1 – Effective index of a waveguide</a:t>
            </a:r>
            <a:br>
              <a:rPr lang="es-ES" sz="2500" spc="-5" dirty="0">
                <a:latin typeface="+mj-lt"/>
                <a:cs typeface="Lucida Sans"/>
              </a:rPr>
            </a:br>
            <a:endParaRPr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9DCFD462-4416-65F8-5696-B0135B6327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293F5C1D-AFFF-4EA6-CA59-6503F34EBF5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3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4F13AC1-9668-7266-DF5B-D7CE084AB044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 dirty="0"/>
              <a:t>LAB 0.1. MODESOLVER</a:t>
            </a:r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AA9E72FF-B948-6B7A-8909-97C6BE95D6FB}"/>
              </a:ext>
            </a:extLst>
          </p:cNvPr>
          <p:cNvSpPr txBox="1">
            <a:spLocks/>
          </p:cNvSpPr>
          <p:nvPr/>
        </p:nvSpPr>
        <p:spPr>
          <a:xfrm>
            <a:off x="608012" y="1295400"/>
            <a:ext cx="11048999" cy="4958137"/>
          </a:xfrm>
          <a:prstGeom prst="rect">
            <a:avLst/>
          </a:prstGeom>
        </p:spPr>
        <p:txBody>
          <a:bodyPr>
            <a:norm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/>
              <a:t>INSTRUCTOR: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Present Python and </a:t>
            </a:r>
            <a:r>
              <a:rPr lang="en-US" sz="2000" dirty="0" err="1"/>
              <a:t>GDSFactory</a:t>
            </a:r>
            <a:r>
              <a:rPr lang="en-US" sz="2000" dirty="0"/>
              <a:t>: materials, output, results.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Explain how to run a simulation for a particular cross-section.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Showcase how to change between shallow and deep waveguide.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Describe how to change the wavelength and width for the waveguide analysis.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dirty="0"/>
              <a:t>Describe the outputs.</a:t>
            </a:r>
          </a:p>
          <a:p>
            <a:pPr marL="0" indent="0" algn="just">
              <a:buNone/>
            </a:pPr>
            <a:r>
              <a:rPr lang="en-US" sz="2000" b="1" dirty="0"/>
              <a:t>ALL EXAMPLE #1: </a:t>
            </a:r>
            <a:r>
              <a:rPr lang="en-US" sz="2000" dirty="0"/>
              <a:t>waveguide width 1.2 µm, deep </a:t>
            </a:r>
            <a:r>
              <a:rPr lang="en-US" sz="2000" dirty="0" err="1"/>
              <a:t>wvg</a:t>
            </a:r>
            <a:r>
              <a:rPr lang="en-US" sz="2000" dirty="0"/>
              <a:t>, wavelength start and end same 1.55 µm </a:t>
            </a:r>
            <a:r>
              <a:rPr lang="en-US" sz="2000" dirty="0">
                <a:sym typeface="Wingdings" pitchFamily="2" charset="2"/>
              </a:rPr>
              <a:t> all ”Run”</a:t>
            </a:r>
            <a:endParaRPr lang="en-US" sz="2000" dirty="0"/>
          </a:p>
          <a:p>
            <a:pPr marL="0" indent="0" algn="just">
              <a:buNone/>
            </a:pPr>
            <a:r>
              <a:rPr lang="en-US" sz="2000" b="1" dirty="0"/>
              <a:t>ALL: </a:t>
            </a:r>
            <a:r>
              <a:rPr lang="en-US" sz="2000" dirty="0"/>
              <a:t>Follow</a:t>
            </a:r>
            <a:r>
              <a:rPr lang="en-US" sz="2000" b="1" dirty="0"/>
              <a:t> </a:t>
            </a:r>
            <a:r>
              <a:rPr lang="en-US" sz="2000" dirty="0"/>
              <a:t>instructor, that will show how to 1) plot mode, 2) explore the results (neff …)</a:t>
            </a:r>
          </a:p>
          <a:p>
            <a:pPr algn="just"/>
            <a:endParaRPr lang="en-US" sz="2000" b="1" i="1" dirty="0"/>
          </a:p>
          <a:p>
            <a:pPr algn="just"/>
            <a:endParaRPr lang="en-US" sz="2000" kern="0" dirty="0">
              <a:solidFill>
                <a:sysClr val="windowText" lastClr="000000"/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0F8CF3B-B920-DBFC-F825-0C87B51EADA7}"/>
              </a:ext>
            </a:extLst>
          </p:cNvPr>
          <p:cNvSpPr txBox="1"/>
          <p:nvPr/>
        </p:nvSpPr>
        <p:spPr>
          <a:xfrm>
            <a:off x="609441" y="4860334"/>
            <a:ext cx="11199971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Document all your results (neff, plot fields </a:t>
            </a: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of different modes, 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comparison between </a:t>
            </a:r>
            <a:r>
              <a:rPr lang="en-US" sz="1200">
                <a:latin typeface="Arial" panose="020B0604020202020204" pitchFamily="34" charset="0"/>
                <a:cs typeface="Arial" panose="020B0604020202020204" pitchFamily="34" charset="0"/>
              </a:rPr>
              <a:t>different polarizations…)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0501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656EC-E197-239C-60DD-C11F7BA4B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bject 16">
            <a:extLst>
              <a:ext uri="{FF2B5EF4-FFF2-40B4-BE49-F238E27FC236}">
                <a16:creationId xmlns:a16="http://schemas.microsoft.com/office/drawing/2014/main" id="{5431EA70-9578-8BF1-5A05-77CDC26788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5800" y="408883"/>
            <a:ext cx="10994410" cy="7053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500" dirty="0"/>
              <a:t>Learning outcome #2 – Wavelength behavior</a:t>
            </a:r>
            <a:br>
              <a:rPr lang="es-ES" sz="2500" spc="-5" dirty="0">
                <a:latin typeface="+mj-lt"/>
                <a:cs typeface="Lucida Sans"/>
              </a:rPr>
            </a:br>
            <a:r>
              <a:rPr lang="en-US" b="0" dirty="0"/>
              <a:t>Wavelength 1.5-1.6 µm (step 0.02 µm) – width 1.2 µm</a:t>
            </a:r>
            <a:endParaRPr sz="2500" b="0" dirty="0">
              <a:latin typeface="+mj-lt"/>
              <a:cs typeface="Lucida Sans"/>
            </a:endParaRPr>
          </a:p>
        </p:txBody>
      </p:sp>
      <p:pic>
        <p:nvPicPr>
          <p:cNvPr id="83" name="Gráfico 82">
            <a:extLst>
              <a:ext uri="{FF2B5EF4-FFF2-40B4-BE49-F238E27FC236}">
                <a16:creationId xmlns:a16="http://schemas.microsoft.com/office/drawing/2014/main" id="{B6A02C28-9CC3-6E88-B695-04A48E5FDE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45006" y="6356057"/>
            <a:ext cx="6409575" cy="363174"/>
          </a:xfrm>
          <a:prstGeom prst="rect">
            <a:avLst/>
          </a:prstGeom>
        </p:spPr>
      </p:pic>
      <p:sp>
        <p:nvSpPr>
          <p:cNvPr id="84" name="Marcador de número de diapositiva 83">
            <a:extLst>
              <a:ext uri="{FF2B5EF4-FFF2-40B4-BE49-F238E27FC236}">
                <a16:creationId xmlns:a16="http://schemas.microsoft.com/office/drawing/2014/main" id="{FB7F118F-AD79-0ED0-CE53-A8EE4409B4F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4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0846C9D-3FE3-8524-3349-96E1AD1712B3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spcBef>
                <a:spcPts val="15"/>
              </a:spcBef>
            </a:pPr>
            <a:r>
              <a:rPr lang="es-ES" spc="-5" dirty="0"/>
              <a:t>LAB 0.1. MODESOLVER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A5F0FDF-2A95-453B-4ECA-AEB637FF2694}"/>
              </a:ext>
            </a:extLst>
          </p:cNvPr>
          <p:cNvSpPr txBox="1"/>
          <p:nvPr/>
        </p:nvSpPr>
        <p:spPr>
          <a:xfrm>
            <a:off x="625605" y="4904218"/>
            <a:ext cx="11199971" cy="2677656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E0700D"/>
            </a:solidFill>
          </a:ln>
        </p:spPr>
        <p:txBody>
          <a:bodyPr wrap="square" rtlCol="0">
            <a:spAutoFit/>
          </a:bodyPr>
          <a:lstStyle/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Deep Waveguide. 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En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no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tiene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slab se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propagan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dos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modos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ya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los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estén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por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debajo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del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índice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cubierta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El primer modo es TE y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segundo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TM.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Si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yo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tuviera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alguna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forma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filtrar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polarización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 la entrada del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circuito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entonces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esa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guía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sería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monomodo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Es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una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guia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monomodo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Podria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ser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monomodo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TE o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monomodo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TM y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propagaríamos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modo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orden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0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ambas, TE0 o TM0.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El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índice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efectivo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modela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propagación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la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fase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como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el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índice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efectivo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váría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no es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cte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tendremos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dependencia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la longitude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onda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Operará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manera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diferente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algn="just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El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núcleo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nitruro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silicio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su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índice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es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cercano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a 2.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Entonces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vemos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que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no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está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muy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confinado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88F19863-7091-B8CA-F848-DBEA5CEEA027}"/>
              </a:ext>
            </a:extLst>
          </p:cNvPr>
          <p:cNvSpPr/>
          <p:nvPr/>
        </p:nvSpPr>
        <p:spPr>
          <a:xfrm>
            <a:off x="609441" y="1418373"/>
            <a:ext cx="53325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C4E7A47-20E2-3C27-D841-5A665642F6E2}"/>
              </a:ext>
            </a:extLst>
          </p:cNvPr>
          <p:cNvSpPr txBox="1"/>
          <p:nvPr/>
        </p:nvSpPr>
        <p:spPr>
          <a:xfrm>
            <a:off x="2285455" y="2671278"/>
            <a:ext cx="198054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shallow</a:t>
            </a:r>
            <a:r>
              <a:rPr lang="en-US" dirty="0"/>
              <a:t> waveguide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Paste plot here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1F754A5-65BC-14A3-5F55-75716FFA9027}"/>
              </a:ext>
            </a:extLst>
          </p:cNvPr>
          <p:cNvSpPr/>
          <p:nvPr/>
        </p:nvSpPr>
        <p:spPr>
          <a:xfrm>
            <a:off x="6476841" y="1418373"/>
            <a:ext cx="5332571" cy="3306028"/>
          </a:xfrm>
          <a:prstGeom prst="rect">
            <a:avLst/>
          </a:prstGeom>
          <a:noFill/>
          <a:ln w="28575">
            <a:solidFill>
              <a:srgbClr val="E0700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BD4C233-B5D9-B6AA-93A8-CF2F130CFF9C}"/>
              </a:ext>
            </a:extLst>
          </p:cNvPr>
          <p:cNvSpPr txBox="1"/>
          <p:nvPr/>
        </p:nvSpPr>
        <p:spPr>
          <a:xfrm>
            <a:off x="642989" y="4402885"/>
            <a:ext cx="22697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slab </a:t>
            </a:r>
            <a:r>
              <a:rPr lang="en-US" dirty="0"/>
              <a:t>= 150nm</a:t>
            </a:r>
            <a:endParaRPr lang="es-ES" dirty="0"/>
          </a:p>
        </p:txBody>
      </p:sp>
      <p:pic>
        <p:nvPicPr>
          <p:cNvPr id="10" name="Imagen 9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6F8352F8-9D55-0A91-7C62-AF0F3E3764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205" y="1564998"/>
            <a:ext cx="5333710" cy="2919724"/>
          </a:xfrm>
          <a:prstGeom prst="rect">
            <a:avLst/>
          </a:prstGeom>
        </p:spPr>
      </p:pic>
      <p:pic>
        <p:nvPicPr>
          <p:cNvPr id="12" name="Imagen 11" descr="Gráfico&#10;&#10;El contenido generado por IA puede ser incorrecto.">
            <a:extLst>
              <a:ext uri="{FF2B5EF4-FFF2-40B4-BE49-F238E27FC236}">
                <a16:creationId xmlns:a16="http://schemas.microsoft.com/office/drawing/2014/main" id="{2E412073-5B4F-E16F-7D6E-1C978D3D99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0212" y="1548801"/>
            <a:ext cx="5505828" cy="2986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3560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3945635" y="2636520"/>
            <a:ext cx="8246363" cy="15849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513326" y="3165729"/>
            <a:ext cx="223329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5" dirty="0">
                <a:solidFill>
                  <a:srgbClr val="FFFFFF"/>
                </a:solidFill>
                <a:latin typeface="Lucida Sans"/>
                <a:cs typeface="Lucida Sans"/>
              </a:rPr>
              <a:t>Thank</a:t>
            </a:r>
            <a:r>
              <a:rPr sz="3200" b="1" spc="-5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3200" b="1" dirty="0">
                <a:solidFill>
                  <a:srgbClr val="FFFFFF"/>
                </a:solidFill>
                <a:latin typeface="Lucida Sans"/>
                <a:cs typeface="Lucida Sans"/>
              </a:rPr>
              <a:t>you</a:t>
            </a:r>
            <a:endParaRPr sz="3200">
              <a:latin typeface="Lucida Sans"/>
              <a:cs typeface="Lucida Sans"/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052DA19-AD24-7D24-2AE9-51F8F5A7F5E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s-ES" smtClean="0"/>
              <a:t>5</a:t>
            </a:fld>
            <a:endParaRPr lang="es-E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1665</TotalTime>
  <Words>418</Words>
  <Application>Microsoft Office PowerPoint</Application>
  <PresentationFormat>Panorámica</PresentationFormat>
  <Paragraphs>68</Paragraphs>
  <Slides>5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2" baseType="lpstr">
      <vt:lpstr>Aptos</vt:lpstr>
      <vt:lpstr>Arial</vt:lpstr>
      <vt:lpstr>Calibri</vt:lpstr>
      <vt:lpstr>Lucida Sans</vt:lpstr>
      <vt:lpstr>Times New Roman</vt:lpstr>
      <vt:lpstr>Wingdings</vt:lpstr>
      <vt:lpstr>Office Theme</vt:lpstr>
      <vt:lpstr>Presentación de PowerPoint</vt:lpstr>
      <vt:lpstr>Instructions General</vt:lpstr>
      <vt:lpstr>Learning outcome #1 – Effective index of a waveguide </vt:lpstr>
      <vt:lpstr>Learning outcome #2 – Wavelength behavior Wavelength 1.5-1.6 µm (step 0.02 µm) – width 1.2 µm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Mª Ester Calataytud</dc:creator>
  <cp:lastModifiedBy>Roberto José Fernández Sevilla</cp:lastModifiedBy>
  <cp:revision>8</cp:revision>
  <dcterms:created xsi:type="dcterms:W3CDTF">2025-01-27T02:46:57Z</dcterms:created>
  <dcterms:modified xsi:type="dcterms:W3CDTF">2026-02-16T08:14:55Z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2024-09-16T00:00:00Z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2025-01-27T00:00:00Z</vt:filetime>
  </property>
</Properties>
</file>